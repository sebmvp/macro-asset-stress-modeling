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5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698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2532757"/>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A6A"/>
                </a:solidFill>
                <a:latin typeface="SFMono-Regular" pitchFamily="34" charset="0"/>
                <a:ea typeface="SFMono-Regular" pitchFamily="34" charset="-122"/>
                <a:cs typeface="SFMono-Regular" pitchFamily="34" charset="-120"/>
              </a:rPr>
              <a:t>CICS 390B · FINAL PRESENTATION</a:t>
            </a:r>
            <a:endParaRPr lang="en-US" sz="1800" dirty="0"/>
          </a:p>
        </p:txBody>
      </p:sp>
      <p:sp>
        <p:nvSpPr>
          <p:cNvPr id="3" name="Text 1"/>
          <p:cNvSpPr/>
          <p:nvPr/>
        </p:nvSpPr>
        <p:spPr>
          <a:xfrm>
            <a:off x="1143000" y="3138488"/>
            <a:ext cx="16482060" cy="1798141"/>
          </a:xfrm>
          <a:prstGeom prst="rect">
            <a:avLst/>
          </a:prstGeom>
          <a:noFill/>
          <a:ln/>
        </p:spPr>
        <p:txBody>
          <a:bodyPr wrap="square" lIns="25400" tIns="25400" rIns="25400" bIns="25400" rtlCol="0" anchor="t">
            <a:normAutofit/>
          </a:bodyPr>
          <a:lstStyle/>
          <a:p>
            <a:pPr marL="0" indent="0" algn="l">
              <a:lnSpc>
                <a:spcPct val="105000"/>
              </a:lnSpc>
              <a:buNone/>
            </a:pPr>
            <a:r>
              <a:rPr lang="en-US" sz="6600" b="1" kern="0" spc="-132" dirty="0">
                <a:solidFill>
                  <a:srgbClr val="1A1A1A"/>
                </a:solidFill>
                <a:latin typeface="Helvetica Neue" pitchFamily="34" charset="0"/>
                <a:ea typeface="Helvetica Neue" pitchFamily="34" charset="-122"/>
                <a:cs typeface="Helvetica Neue" pitchFamily="34" charset="-120"/>
              </a:rPr>
              <a:t>Predicting asset behavior under macro stress.</a:t>
            </a:r>
            <a:endParaRPr lang="en-US" sz="6600" dirty="0"/>
          </a:p>
        </p:txBody>
      </p:sp>
      <p:sp>
        <p:nvSpPr>
          <p:cNvPr id="4" name="Text 2"/>
          <p:cNvSpPr/>
          <p:nvPr/>
        </p:nvSpPr>
        <p:spPr>
          <a:xfrm>
            <a:off x="1143000" y="5184279"/>
            <a:ext cx="13735050" cy="1028700"/>
          </a:xfrm>
          <a:prstGeom prst="rect">
            <a:avLst/>
          </a:prstGeom>
          <a:noFill/>
          <a:ln/>
        </p:spPr>
        <p:txBody>
          <a:bodyPr wrap="square" lIns="25400" tIns="25400" rIns="25400" bIns="25400" rtlCol="0" anchor="t">
            <a:normAutofit/>
          </a:bodyPr>
          <a:lstStyle/>
          <a:p>
            <a:pPr marL="0" indent="0" algn="l">
              <a:lnSpc>
                <a:spcPct val="130000"/>
              </a:lnSpc>
              <a:buNone/>
            </a:pPr>
            <a:r>
              <a:rPr lang="en-US" sz="3000" dirty="0">
                <a:solidFill>
                  <a:srgbClr val="6A6A6A"/>
                </a:solidFill>
                <a:latin typeface="Helvetica Neue" pitchFamily="34" charset="0"/>
                <a:ea typeface="Helvetica Neue" pitchFamily="34" charset="-122"/>
                <a:cs typeface="Helvetica Neue" pitchFamily="34" charset="-120"/>
              </a:rPr>
              <a:t>A study of Gold, SPY, and Bitcoin under stress regimes — and whether macro-financial indicators help us forecast.</a:t>
            </a:r>
            <a:endParaRPr lang="en-US" sz="3000" dirty="0"/>
          </a:p>
        </p:txBody>
      </p:sp>
      <p:sp>
        <p:nvSpPr>
          <p:cNvPr id="5" name="Shape 3"/>
          <p:cNvSpPr/>
          <p:nvPr/>
        </p:nvSpPr>
        <p:spPr>
          <a:xfrm>
            <a:off x="1143000" y="7032129"/>
            <a:ext cx="16002000" cy="9525"/>
          </a:xfrm>
          <a:prstGeom prst="rect">
            <a:avLst/>
          </a:prstGeom>
          <a:solidFill>
            <a:srgbClr val="D9D9D6"/>
          </a:solidFill>
          <a:ln/>
        </p:spPr>
        <p:txBody>
          <a:bodyPr/>
          <a:lstStyle/>
          <a:p>
            <a:endParaRPr lang="en-US"/>
          </a:p>
        </p:txBody>
      </p:sp>
      <p:sp>
        <p:nvSpPr>
          <p:cNvPr id="6" name="Text 4"/>
          <p:cNvSpPr/>
          <p:nvPr/>
        </p:nvSpPr>
        <p:spPr>
          <a:xfrm>
            <a:off x="1143000" y="7327404"/>
            <a:ext cx="1753046"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1A1A1A"/>
                </a:solidFill>
                <a:latin typeface="Helvetica Neue" pitchFamily="34" charset="0"/>
                <a:ea typeface="Helvetica Neue" pitchFamily="34" charset="-122"/>
                <a:cs typeface="Helvetica Neue" pitchFamily="34" charset="-120"/>
              </a:rPr>
              <a:t>Dhruv Kartik</a:t>
            </a:r>
            <a:endParaRPr lang="en-US" sz="2400" dirty="0"/>
          </a:p>
        </p:txBody>
      </p:sp>
      <p:sp>
        <p:nvSpPr>
          <p:cNvPr id="7" name="Text 5"/>
          <p:cNvSpPr/>
          <p:nvPr/>
        </p:nvSpPr>
        <p:spPr>
          <a:xfrm>
            <a:off x="3277046" y="7327404"/>
            <a:ext cx="3798446"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1A1A1A"/>
                </a:solidFill>
                <a:latin typeface="Helvetica Neue" pitchFamily="34" charset="0"/>
                <a:ea typeface="Helvetica Neue" pitchFamily="34" charset="-122"/>
                <a:cs typeface="Helvetica Neue" pitchFamily="34" charset="-120"/>
              </a:rPr>
              <a:t>Sebastian Vaskes Pimentel</a:t>
            </a:r>
            <a:endParaRPr lang="en-US" sz="2400" dirty="0"/>
          </a:p>
        </p:txBody>
      </p:sp>
      <p:sp>
        <p:nvSpPr>
          <p:cNvPr id="8" name="Text 6"/>
          <p:cNvSpPr/>
          <p:nvPr/>
        </p:nvSpPr>
        <p:spPr>
          <a:xfrm>
            <a:off x="7422059" y="7327404"/>
            <a:ext cx="2092523"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1A1A1A"/>
                </a:solidFill>
                <a:latin typeface="Helvetica Neue" pitchFamily="34" charset="0"/>
                <a:ea typeface="Helvetica Neue" pitchFamily="34" charset="-122"/>
                <a:cs typeface="Helvetica Neue" pitchFamily="34" charset="-120"/>
              </a:rPr>
              <a:t>Nathan Dennis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PROBLEM &amp; MOTIVATION</a:t>
            </a:r>
            <a:endParaRPr lang="en-US" sz="1800" dirty="0"/>
          </a:p>
        </p:txBody>
      </p:sp>
      <p:sp>
        <p:nvSpPr>
          <p:cNvPr id="3" name="Text 1"/>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Predicting asset behavior under stress.</a:t>
            </a:r>
            <a:endParaRPr lang="en-US" sz="4500" dirty="0"/>
          </a:p>
        </p:txBody>
      </p:sp>
      <p:sp>
        <p:nvSpPr>
          <p:cNvPr id="4" name="Text 2"/>
          <p:cNvSpPr/>
          <p:nvPr/>
        </p:nvSpPr>
        <p:spPr>
          <a:xfrm>
            <a:off x="1295311" y="2377380"/>
            <a:ext cx="15533919" cy="891480"/>
          </a:xfrm>
          <a:prstGeom prst="rect">
            <a:avLst/>
          </a:prstGeom>
          <a:noFill/>
          <a:ln/>
        </p:spPr>
        <p:txBody>
          <a:bodyPr wrap="square" lIns="25400" tIns="25400" rIns="25400" bIns="25400" rtlCol="0" anchor="t">
            <a:normAutofit/>
          </a:bodyPr>
          <a:lstStyle/>
          <a:p>
            <a:pPr marL="213360" indent="-213360" algn="l">
              <a:lnSpc>
                <a:spcPct val="140000"/>
              </a:lnSpc>
              <a:buSzPct val="100000"/>
              <a:buChar char="•"/>
            </a:pPr>
            <a:r>
              <a:rPr lang="en-US" sz="2400" b="1" dirty="0">
                <a:solidFill>
                  <a:srgbClr val="1A1A1A"/>
                </a:solidFill>
                <a:latin typeface="Helvetica Neue" pitchFamily="34" charset="0"/>
                <a:ea typeface="Helvetica Neue" pitchFamily="34" charset="-122"/>
                <a:cs typeface="Helvetica Neue" pitchFamily="34" charset="-120"/>
              </a:rPr>
              <a:t>The problem. </a:t>
            </a:r>
            <a:r>
              <a:rPr lang="en-US" sz="2400" dirty="0">
                <a:solidFill>
                  <a:srgbClr val="1A1A1A"/>
                </a:solidFill>
                <a:latin typeface="Helvetica Neue" pitchFamily="34" charset="0"/>
                <a:ea typeface="Helvetica Neue" pitchFamily="34" charset="-122"/>
                <a:cs typeface="Helvetica Neue" pitchFamily="34" charset="-120"/>
              </a:rPr>
              <a:t>Financial stress frequently propagates across global markets, triggering elevated volatility in equities, credit, and alternative assets.</a:t>
            </a:r>
            <a:endParaRPr lang="en-US" sz="2400" dirty="0"/>
          </a:p>
        </p:txBody>
      </p:sp>
      <p:sp>
        <p:nvSpPr>
          <p:cNvPr id="5" name="Text 3"/>
          <p:cNvSpPr/>
          <p:nvPr/>
        </p:nvSpPr>
        <p:spPr>
          <a:xfrm>
            <a:off x="1295311" y="3421261"/>
            <a:ext cx="15533919" cy="1318171"/>
          </a:xfrm>
          <a:prstGeom prst="rect">
            <a:avLst/>
          </a:prstGeom>
          <a:noFill/>
          <a:ln/>
        </p:spPr>
        <p:txBody>
          <a:bodyPr wrap="square" lIns="25400" tIns="25400" rIns="25400" bIns="25400" rtlCol="0" anchor="t">
            <a:normAutofit/>
          </a:bodyPr>
          <a:lstStyle/>
          <a:p>
            <a:pPr marL="213360" indent="-213360" algn="l">
              <a:lnSpc>
                <a:spcPct val="140000"/>
              </a:lnSpc>
              <a:buSzPct val="100000"/>
              <a:buChar char="•"/>
            </a:pPr>
            <a:r>
              <a:rPr lang="en-US" sz="2400" b="1" dirty="0">
                <a:solidFill>
                  <a:srgbClr val="1A1A1A"/>
                </a:solidFill>
                <a:latin typeface="Helvetica Neue" pitchFamily="34" charset="0"/>
                <a:ea typeface="Helvetica Neue" pitchFamily="34" charset="-122"/>
                <a:cs typeface="Helvetica Neue" pitchFamily="34" charset="-120"/>
              </a:rPr>
              <a:t>The motivation. </a:t>
            </a:r>
            <a:r>
              <a:rPr lang="en-US" sz="2400" dirty="0">
                <a:solidFill>
                  <a:srgbClr val="1A1A1A"/>
                </a:solidFill>
                <a:latin typeface="Helvetica Neue" pitchFamily="34" charset="0"/>
                <a:ea typeface="Helvetica Neue" pitchFamily="34" charset="-122"/>
                <a:cs typeface="Helvetica Neue" pitchFamily="34" charset="-120"/>
              </a:rPr>
              <a:t>During turbulent periods, investors rely on traditionally "defensive" assets to protect capital. Understanding </a:t>
            </a:r>
            <a:r>
              <a:rPr lang="en-US" sz="2400" i="1" dirty="0">
                <a:solidFill>
                  <a:srgbClr val="1A1A1A"/>
                </a:solidFill>
                <a:latin typeface="Helvetica Neue" pitchFamily="34" charset="0"/>
                <a:ea typeface="Helvetica Neue" pitchFamily="34" charset="-122"/>
                <a:cs typeface="Helvetica Neue" pitchFamily="34" charset="-120"/>
              </a:rPr>
              <a:t>if </a:t>
            </a:r>
            <a:r>
              <a:rPr lang="en-US" sz="2400" dirty="0">
                <a:solidFill>
                  <a:srgbClr val="1A1A1A"/>
                </a:solidFill>
                <a:latin typeface="Helvetica Neue" pitchFamily="34" charset="0"/>
                <a:ea typeface="Helvetica Neue" pitchFamily="34" charset="-122"/>
                <a:cs typeface="Helvetica Neue" pitchFamily="34" charset="-120"/>
              </a:rPr>
              <a:t>and </a:t>
            </a:r>
            <a:r>
              <a:rPr lang="en-US" sz="2400" i="1" dirty="0">
                <a:solidFill>
                  <a:srgbClr val="1A1A1A"/>
                </a:solidFill>
                <a:latin typeface="Helvetica Neue" pitchFamily="34" charset="0"/>
                <a:ea typeface="Helvetica Neue" pitchFamily="34" charset="-122"/>
                <a:cs typeface="Helvetica Neue" pitchFamily="34" charset="-120"/>
              </a:rPr>
              <a:t>when </a:t>
            </a:r>
            <a:r>
              <a:rPr lang="en-US" sz="2400" dirty="0">
                <a:solidFill>
                  <a:srgbClr val="1A1A1A"/>
                </a:solidFill>
                <a:latin typeface="Helvetica Neue" pitchFamily="34" charset="0"/>
                <a:ea typeface="Helvetica Neue" pitchFamily="34" charset="-122"/>
                <a:cs typeface="Helvetica Neue" pitchFamily="34" charset="-120"/>
              </a:rPr>
              <a:t>these assets actually work matters for algorithmic trading and portfolio risk management.</a:t>
            </a:r>
            <a:endParaRPr lang="en-US" sz="2400" dirty="0"/>
          </a:p>
        </p:txBody>
      </p:sp>
      <p:sp>
        <p:nvSpPr>
          <p:cNvPr id="6" name="Text 4"/>
          <p:cNvSpPr/>
          <p:nvPr/>
        </p:nvSpPr>
        <p:spPr>
          <a:xfrm>
            <a:off x="1295311" y="4891832"/>
            <a:ext cx="15533919" cy="891480"/>
          </a:xfrm>
          <a:prstGeom prst="rect">
            <a:avLst/>
          </a:prstGeom>
          <a:noFill/>
          <a:ln/>
        </p:spPr>
        <p:txBody>
          <a:bodyPr wrap="square" lIns="25400" tIns="25400" rIns="25400" bIns="25400" rtlCol="0" anchor="t">
            <a:normAutofit/>
          </a:bodyPr>
          <a:lstStyle/>
          <a:p>
            <a:pPr marL="213360" indent="-213360" algn="l">
              <a:lnSpc>
                <a:spcPct val="140000"/>
              </a:lnSpc>
              <a:buSzPct val="100000"/>
              <a:buChar char="•"/>
            </a:pPr>
            <a:r>
              <a:rPr lang="en-US" sz="2400" b="1" dirty="0">
                <a:solidFill>
                  <a:srgbClr val="1A1A1A"/>
                </a:solidFill>
                <a:latin typeface="Helvetica Neue" pitchFamily="34" charset="0"/>
                <a:ea typeface="Helvetica Neue" pitchFamily="34" charset="-122"/>
                <a:cs typeface="Helvetica Neue" pitchFamily="34" charset="-120"/>
              </a:rPr>
              <a:t>Our focus. </a:t>
            </a:r>
            <a:r>
              <a:rPr lang="en-US" sz="2400" dirty="0">
                <a:solidFill>
                  <a:srgbClr val="1A1A1A"/>
                </a:solidFill>
                <a:latin typeface="Helvetica Neue" pitchFamily="34" charset="0"/>
                <a:ea typeface="Helvetica Neue" pitchFamily="34" charset="-122"/>
                <a:cs typeface="Helvetica Neue" pitchFamily="34" charset="-120"/>
              </a:rPr>
              <a:t>Use macro-financial stress indicators — high-yield credit spreads, the VIX, the financial stress index — to predict cross-asset behavior across equities (SPY), commodities (Gold), and crypto (Bitcoin).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RESEARCH QUESTIONS</a:t>
            </a:r>
            <a:endParaRPr lang="en-US" sz="1800" dirty="0"/>
          </a:p>
        </p:txBody>
      </p:sp>
      <p:sp>
        <p:nvSpPr>
          <p:cNvPr id="3" name="Text 1"/>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Core research questions.</a:t>
            </a:r>
            <a:endParaRPr lang="en-US" sz="4500" dirty="0"/>
          </a:p>
        </p:txBody>
      </p:sp>
      <p:sp>
        <p:nvSpPr>
          <p:cNvPr id="4" name="Text 2"/>
          <p:cNvSpPr/>
          <p:nvPr/>
        </p:nvSpPr>
        <p:spPr>
          <a:xfrm>
            <a:off x="1143000" y="2205930"/>
            <a:ext cx="14716125" cy="990600"/>
          </a:xfrm>
          <a:prstGeom prst="rect">
            <a:avLst/>
          </a:prstGeom>
          <a:noFill/>
          <a:ln/>
        </p:spPr>
        <p:txBody>
          <a:bodyPr wrap="square" lIns="25400" tIns="25400" rIns="25400" bIns="25400" rtlCol="0" anchor="t">
            <a:normAutofit/>
          </a:bodyPr>
          <a:lstStyle/>
          <a:p>
            <a:pPr marL="0" indent="0" algn="l">
              <a:lnSpc>
                <a:spcPct val="125000"/>
              </a:lnSpc>
              <a:buNone/>
            </a:pPr>
            <a:r>
              <a:rPr lang="en-US" sz="3000" b="1" dirty="0">
                <a:solidFill>
                  <a:srgbClr val="1A1A1A"/>
                </a:solidFill>
                <a:latin typeface="Helvetica Neue" pitchFamily="34" charset="0"/>
                <a:ea typeface="Helvetica Neue" pitchFamily="34" charset="-122"/>
                <a:cs typeface="Helvetica Neue" pitchFamily="34" charset="-120"/>
              </a:rPr>
              <a:t>Primary question. </a:t>
            </a:r>
            <a:r>
              <a:rPr lang="en-US" sz="3000" dirty="0">
                <a:solidFill>
                  <a:srgbClr val="6A6A6A"/>
                </a:solidFill>
                <a:latin typeface="Helvetica Neue" pitchFamily="34" charset="0"/>
                <a:ea typeface="Helvetica Neue" pitchFamily="34" charset="-122"/>
                <a:cs typeface="Helvetica Neue" pitchFamily="34" charset="-120"/>
              </a:rPr>
              <a:t>Does Gold genuinely behave defensively as a "safe haven" during periods of macroeconomic stress?</a:t>
            </a:r>
            <a:endParaRPr lang="en-US" sz="3000" dirty="0"/>
          </a:p>
        </p:txBody>
      </p:sp>
      <p:sp>
        <p:nvSpPr>
          <p:cNvPr id="5" name="Text 3"/>
          <p:cNvSpPr/>
          <p:nvPr/>
        </p:nvSpPr>
        <p:spPr>
          <a:xfrm>
            <a:off x="1143000" y="3444180"/>
            <a:ext cx="838200"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dirty="0">
                <a:solidFill>
                  <a:srgbClr val="9A6B1F"/>
                </a:solidFill>
                <a:latin typeface="SFMono-Regular" pitchFamily="34" charset="0"/>
                <a:ea typeface="SFMono-Regular" pitchFamily="34" charset="-122"/>
                <a:cs typeface="SFMono-Regular" pitchFamily="34" charset="-120"/>
              </a:rPr>
              <a:t>01</a:t>
            </a:r>
            <a:endParaRPr lang="en-US" sz="3000" dirty="0"/>
          </a:p>
        </p:txBody>
      </p:sp>
      <p:sp>
        <p:nvSpPr>
          <p:cNvPr id="6" name="Text 4"/>
          <p:cNvSpPr/>
          <p:nvPr/>
        </p:nvSpPr>
        <p:spPr>
          <a:xfrm>
            <a:off x="2133600" y="3529905"/>
            <a:ext cx="15461742" cy="449461"/>
          </a:xfrm>
          <a:prstGeom prst="rect">
            <a:avLst/>
          </a:prstGeom>
          <a:noFill/>
          <a:ln/>
        </p:spPr>
        <p:txBody>
          <a:bodyPr wrap="square" lIns="25400" tIns="25400" rIns="25400" bIns="25400" rtlCol="0" anchor="t">
            <a:normAutofit/>
          </a:bodyPr>
          <a:lstStyle/>
          <a:p>
            <a:pPr marL="0" indent="0" algn="l">
              <a:lnSpc>
                <a:spcPct val="135000"/>
              </a:lnSpc>
              <a:buNone/>
            </a:pPr>
            <a:r>
              <a:rPr lang="en-US" sz="2400" dirty="0">
                <a:solidFill>
                  <a:srgbClr val="1A1A1A"/>
                </a:solidFill>
                <a:latin typeface="Helvetica Neue" pitchFamily="34" charset="0"/>
                <a:ea typeface="Helvetica Neue" pitchFamily="34" charset="-122"/>
                <a:cs typeface="Helvetica Neue" pitchFamily="34" charset="-120"/>
              </a:rPr>
              <a:t>How do the returns and volatility of Gold, SPY, and Bitcoin compare under statistically defined stress regimes?</a:t>
            </a:r>
            <a:endParaRPr lang="en-US" sz="2400" dirty="0"/>
          </a:p>
        </p:txBody>
      </p:sp>
      <p:sp>
        <p:nvSpPr>
          <p:cNvPr id="7" name="Text 5"/>
          <p:cNvSpPr/>
          <p:nvPr/>
        </p:nvSpPr>
        <p:spPr>
          <a:xfrm>
            <a:off x="1143000" y="4282380"/>
            <a:ext cx="838200"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dirty="0">
                <a:solidFill>
                  <a:srgbClr val="9A6B1F"/>
                </a:solidFill>
                <a:latin typeface="SFMono-Regular" pitchFamily="34" charset="0"/>
                <a:ea typeface="SFMono-Regular" pitchFamily="34" charset="-122"/>
                <a:cs typeface="SFMono-Regular" pitchFamily="34" charset="-120"/>
              </a:rPr>
              <a:t>02</a:t>
            </a:r>
            <a:endParaRPr lang="en-US" sz="3000" dirty="0"/>
          </a:p>
        </p:txBody>
      </p:sp>
      <p:sp>
        <p:nvSpPr>
          <p:cNvPr id="8" name="Text 6"/>
          <p:cNvSpPr/>
          <p:nvPr/>
        </p:nvSpPr>
        <p:spPr>
          <a:xfrm>
            <a:off x="2133600" y="4368105"/>
            <a:ext cx="15461742" cy="860822"/>
          </a:xfrm>
          <a:prstGeom prst="rect">
            <a:avLst/>
          </a:prstGeom>
          <a:noFill/>
          <a:ln/>
        </p:spPr>
        <p:txBody>
          <a:bodyPr wrap="square" lIns="25400" tIns="25400" rIns="25400" bIns="25400" rtlCol="0" anchor="t">
            <a:normAutofit/>
          </a:bodyPr>
          <a:lstStyle/>
          <a:p>
            <a:pPr marL="0" indent="0" algn="l">
              <a:lnSpc>
                <a:spcPct val="135000"/>
              </a:lnSpc>
              <a:buNone/>
            </a:pPr>
            <a:r>
              <a:rPr lang="en-US" sz="2400" dirty="0">
                <a:solidFill>
                  <a:srgbClr val="1A1A1A"/>
                </a:solidFill>
                <a:latin typeface="Helvetica Neue" pitchFamily="34" charset="0"/>
                <a:ea typeface="Helvetica Neue" pitchFamily="34" charset="-122"/>
                <a:cs typeface="Helvetica Neue" pitchFamily="34" charset="-120"/>
              </a:rPr>
              <a:t>Can credit-market and macro-stress indicators provide reliable predictive signals for short-term asset returns and volatility?</a:t>
            </a:r>
            <a:endParaRPr lang="en-US" sz="2400" dirty="0"/>
          </a:p>
        </p:txBody>
      </p:sp>
      <p:sp>
        <p:nvSpPr>
          <p:cNvPr id="9" name="Text 7"/>
          <p:cNvSpPr/>
          <p:nvPr/>
        </p:nvSpPr>
        <p:spPr>
          <a:xfrm>
            <a:off x="1143000" y="5495627"/>
            <a:ext cx="838200"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dirty="0">
                <a:solidFill>
                  <a:srgbClr val="9A6B1F"/>
                </a:solidFill>
                <a:latin typeface="SFMono-Regular" pitchFamily="34" charset="0"/>
                <a:ea typeface="SFMono-Regular" pitchFamily="34" charset="-122"/>
                <a:cs typeface="SFMono-Regular" pitchFamily="34" charset="-120"/>
              </a:rPr>
              <a:t>03</a:t>
            </a:r>
            <a:endParaRPr lang="en-US" sz="3000" dirty="0"/>
          </a:p>
        </p:txBody>
      </p:sp>
      <p:sp>
        <p:nvSpPr>
          <p:cNvPr id="10" name="Text 8"/>
          <p:cNvSpPr/>
          <p:nvPr/>
        </p:nvSpPr>
        <p:spPr>
          <a:xfrm>
            <a:off x="2133600" y="5581352"/>
            <a:ext cx="15461742" cy="860822"/>
          </a:xfrm>
          <a:prstGeom prst="rect">
            <a:avLst/>
          </a:prstGeom>
          <a:noFill/>
          <a:ln/>
        </p:spPr>
        <p:txBody>
          <a:bodyPr wrap="square" lIns="25400" tIns="25400" rIns="25400" bIns="25400" rtlCol="0" anchor="t">
            <a:normAutofit/>
          </a:bodyPr>
          <a:lstStyle/>
          <a:p>
            <a:pPr marL="0" indent="0" algn="l">
              <a:lnSpc>
                <a:spcPct val="135000"/>
              </a:lnSpc>
              <a:buNone/>
            </a:pPr>
            <a:r>
              <a:rPr lang="en-US" sz="2400" dirty="0">
                <a:solidFill>
                  <a:srgbClr val="1A1A1A"/>
                </a:solidFill>
                <a:latin typeface="Helvetica Neue" pitchFamily="34" charset="0"/>
                <a:ea typeface="Helvetica Neue" pitchFamily="34" charset="-122"/>
                <a:cs typeface="Helvetica Neue" pitchFamily="34" charset="-120"/>
              </a:rPr>
              <a:t>Do non-linear machine learning models (XGBoost) capture safe-haven dynamics better than standard linear baselines?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ata &amp; Methodology">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DATA · METHODOLOGY</a:t>
            </a:r>
            <a:endParaRPr lang="en-US" sz="1800" dirty="0"/>
          </a:p>
        </p:txBody>
      </p:sp>
      <p:sp>
        <p:nvSpPr>
          <p:cNvPr id="3" name="title"/>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How we set up the study.</a:t>
            </a:r>
            <a:endParaRPr lang="en-US" sz="4500" dirty="0"/>
          </a:p>
        </p:txBody>
      </p:sp>
      <p:sp>
        <p:nvSpPr>
          <p:cNvPr id="4" name="left-h"/>
          <p:cNvSpPr/>
          <p:nvPr/>
        </p:nvSpPr>
        <p:spPr>
          <a:xfrm>
            <a:off x="1143000" y="2377380"/>
            <a:ext cx="80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The dataset.</a:t>
            </a:r>
            <a:endParaRPr lang="en-US" sz="2400" dirty="0"/>
          </a:p>
        </p:txBody>
      </p:sp>
      <p:sp>
        <p:nvSpPr>
          <p:cNvPr id="5" name="left-body"/>
          <p:cNvSpPr/>
          <p:nvPr/>
        </p:nvSpPr>
        <p:spPr>
          <a:xfrm>
            <a:off x="1143000" y="2861221"/>
            <a:ext cx="8000000" cy="2400000"/>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6A6A6A"/>
                </a:solidFill>
                <a:latin typeface="Helvetica Neue" pitchFamily="34" charset="0"/>
                <a:ea typeface="Helvetica Neue" pitchFamily="34" charset="-122"/>
                <a:cs typeface="Helvetica Neue" pitchFamily="34" charset="-120"/>
              </a:rPr>
              <a:t>4,150 daily observations from October 2014 through February 2026 — covering the 2020 COVID crash, the 2022 inflation/rate-hike cycle, and the 2023 banking stress episode. Each row pairs prices for </a:t>
            </a:r>
            <a:r>
              <a:rPr lang="en-US" sz="2000" b="1" dirty="0">
                <a:solidFill>
                  <a:srgbClr val="1A1A1A"/>
                </a:solidFill>
                <a:latin typeface="Helvetica Neue" pitchFamily="34" charset="0"/>
                <a:ea typeface="Helvetica Neue" pitchFamily="34" charset="-122"/>
                <a:cs typeface="Helvetica Neue" pitchFamily="34" charset="-120"/>
              </a:rPr>
              <a:t>Gold, SPY, and Bitcoin</a:t>
            </a:r>
            <a:r>
              <a:rPr lang="en-US" sz="2000" dirty="0">
                <a:solidFill>
                  <a:srgbClr val="6A6A6A"/>
                </a:solidFill>
                <a:latin typeface="Helvetica Neue" pitchFamily="34" charset="0"/>
                <a:ea typeface="Helvetica Neue" pitchFamily="34" charset="-122"/>
                <a:cs typeface="Helvetica Neue" pitchFamily="34" charset="-120"/>
              </a:rPr>
              <a:t> with macro-stress indicators: VIX, the financial stress index, the high-yield credit spread, the yield-curve spread, drawdown, RSI, and rolling volatilities.</a:t>
            </a:r>
            <a:endParaRPr lang="en-US" sz="2000" dirty="0"/>
          </a:p>
        </p:txBody>
      </p:sp>
      <p:sp>
        <p:nvSpPr>
          <p:cNvPr id="6" name="left-h2"/>
          <p:cNvSpPr/>
          <p:nvPr/>
        </p:nvSpPr>
        <p:spPr>
          <a:xfrm>
            <a:off x="1143000" y="5450000"/>
            <a:ext cx="80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Targets we modeled.</a:t>
            </a:r>
            <a:endParaRPr lang="en-US" sz="2400" dirty="0"/>
          </a:p>
        </p:txBody>
      </p:sp>
      <p:sp>
        <p:nvSpPr>
          <p:cNvPr id="7" name="left-body2"/>
          <p:cNvSpPr/>
          <p:nvPr/>
        </p:nvSpPr>
        <p:spPr>
          <a:xfrm>
            <a:off x="1143000" y="5934000"/>
            <a:ext cx="8000000" cy="2200000"/>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6A6A6A"/>
                </a:solidFill>
                <a:latin typeface="Helvetica Neue" pitchFamily="34" charset="0"/>
                <a:ea typeface="Helvetica Neue" pitchFamily="34" charset="-122"/>
                <a:cs typeface="Helvetica Neue" pitchFamily="34" charset="-120"/>
              </a:rPr>
              <a:t>Next-day Gold returns, 5-day directional outperformance vs SPY, multi-asset volatility (h = 1 and 5), and a one-week-ahead stress-regime forecast — all on a strict </a:t>
            </a:r>
            <a:r>
              <a:rPr lang="en-US" sz="2000" b="1" dirty="0">
                <a:solidFill>
                  <a:srgbClr val="1A1A1A"/>
                </a:solidFill>
                <a:latin typeface="Helvetica Neue" pitchFamily="34" charset="0"/>
                <a:ea typeface="Helvetica Neue" pitchFamily="34" charset="-122"/>
                <a:cs typeface="Helvetica Neue" pitchFamily="34" charset="-120"/>
              </a:rPr>
              <a:t>chronological 80 / 20 split</a:t>
            </a:r>
            <a:r>
              <a:rPr lang="en-US" sz="2000" dirty="0">
                <a:solidFill>
                  <a:srgbClr val="6A6A6A"/>
                </a:solidFill>
                <a:latin typeface="Helvetica Neue" pitchFamily="34" charset="0"/>
                <a:ea typeface="Helvetica Neue" pitchFamily="34" charset="-122"/>
                <a:cs typeface="Helvetica Neue" pitchFamily="34" charset="-120"/>
              </a:rPr>
              <a:t> with no random shuffling.</a:t>
            </a:r>
            <a:endParaRPr lang="en-US" sz="2000" dirty="0"/>
          </a:p>
        </p:txBody>
      </p:sp>
      <p:sp>
        <p:nvSpPr>
          <p:cNvPr id="8" name="rh"/>
          <p:cNvSpPr/>
          <p:nvPr/>
        </p:nvSpPr>
        <p:spPr>
          <a:xfrm>
            <a:off x="9700000" y="2377380"/>
            <a:ext cx="74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Three stress-regime definitions.</a:t>
            </a:r>
            <a:endParaRPr lang="en-US" sz="2400" dirty="0"/>
          </a:p>
        </p:txBody>
      </p:sp>
      <p:cxnSp>
        <p:nvCxnSpPr>
          <p:cNvPr id="9" name="line"/>
          <p:cNvCxnSpPr/>
          <p:nvPr/>
        </p:nvCxnSpPr>
        <p:spPr>
          <a:xfrm>
            <a:off x="9700000" y="2932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0" name="th0"/>
          <p:cNvSpPr/>
          <p:nvPr/>
        </p:nvSpPr>
        <p:spPr>
          <a:xfrm>
            <a:off x="9700000" y="2950000"/>
            <a:ext cx="35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500" kern="0" spc="200" dirty="0">
                <a:solidFill>
                  <a:srgbClr val="6A6A6A"/>
                </a:solidFill>
                <a:latin typeface="SFMono-Regular" pitchFamily="34" charset="0"/>
                <a:ea typeface="SFMono-Regular" pitchFamily="34" charset="-122"/>
                <a:cs typeface="SFMono-Regular" pitchFamily="34" charset="-120"/>
              </a:rPr>
              <a:t>REGIME</a:t>
            </a:r>
            <a:endParaRPr lang="en-US" sz="1500" dirty="0"/>
          </a:p>
        </p:txBody>
      </p:sp>
      <p:sp>
        <p:nvSpPr>
          <p:cNvPr id="11" name="th0"/>
          <p:cNvSpPr/>
          <p:nvPr/>
        </p:nvSpPr>
        <p:spPr>
          <a:xfrm>
            <a:off x="13400000" y="2950000"/>
            <a:ext cx="24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500" kern="0" spc="200" dirty="0">
                <a:solidFill>
                  <a:srgbClr val="6A6A6A"/>
                </a:solidFill>
                <a:latin typeface="SFMono-Regular" pitchFamily="34" charset="0"/>
                <a:ea typeface="SFMono-Regular" pitchFamily="34" charset="-122"/>
                <a:cs typeface="SFMono-Regular" pitchFamily="34" charset="-120"/>
              </a:rPr>
              <a:t>THRESHOLD</a:t>
            </a:r>
            <a:endParaRPr lang="en-US" sz="1500" dirty="0"/>
          </a:p>
        </p:txBody>
      </p:sp>
      <p:sp>
        <p:nvSpPr>
          <p:cNvPr id="12" name="th0"/>
          <p:cNvSpPr/>
          <p:nvPr/>
        </p:nvSpPr>
        <p:spPr>
          <a:xfrm>
            <a:off x="15800000" y="2950000"/>
            <a:ext cx="13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500" kern="0" spc="200" dirty="0">
                <a:solidFill>
                  <a:srgbClr val="6A6A6A"/>
                </a:solidFill>
                <a:latin typeface="SFMono-Regular" pitchFamily="34" charset="0"/>
                <a:ea typeface="SFMono-Regular" pitchFamily="34" charset="-122"/>
                <a:cs typeface="SFMono-Regular" pitchFamily="34" charset="-120"/>
              </a:rPr>
              <a:t>% OF DAYS</a:t>
            </a:r>
            <a:endParaRPr lang="en-US" sz="1500" dirty="0"/>
          </a:p>
        </p:txBody>
      </p:sp>
      <p:cxnSp>
        <p:nvCxnSpPr>
          <p:cNvPr id="13" name="line"/>
          <p:cNvCxnSpPr/>
          <p:nvPr/>
        </p:nvCxnSpPr>
        <p:spPr>
          <a:xfrm>
            <a:off x="9700000" y="3570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4" name="td1-9700000"/>
          <p:cNvSpPr/>
          <p:nvPr/>
        </p:nvSpPr>
        <p:spPr>
          <a:xfrm>
            <a:off x="9700000" y="3650000"/>
            <a:ext cx="35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High-yield credit spread</a:t>
            </a:r>
            <a:endParaRPr lang="en-US" sz="1700" dirty="0"/>
          </a:p>
        </p:txBody>
      </p:sp>
      <p:sp>
        <p:nvSpPr>
          <p:cNvPr id="15" name="td1-13400000"/>
          <p:cNvSpPr/>
          <p:nvPr/>
        </p:nvSpPr>
        <p:spPr>
          <a:xfrm>
            <a:off x="13400000" y="3650000"/>
            <a:ext cx="24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 66th pct (4.40)</a:t>
            </a:r>
            <a:endParaRPr lang="en-US" sz="1700" dirty="0"/>
          </a:p>
        </p:txBody>
      </p:sp>
      <p:sp>
        <p:nvSpPr>
          <p:cNvPr id="16" name="td1-15800000"/>
          <p:cNvSpPr/>
          <p:nvPr/>
        </p:nvSpPr>
        <p:spPr>
          <a:xfrm>
            <a:off x="15800000" y="3650000"/>
            <a:ext cx="13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34.2%</a:t>
            </a:r>
            <a:endParaRPr lang="en-US" sz="1700" dirty="0"/>
          </a:p>
        </p:txBody>
      </p:sp>
      <p:cxnSp>
        <p:nvCxnSpPr>
          <p:cNvPr id="17" name="line"/>
          <p:cNvCxnSpPr/>
          <p:nvPr/>
        </p:nvCxnSpPr>
        <p:spPr>
          <a:xfrm>
            <a:off x="9700000" y="4190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8" name="td2-9700000"/>
          <p:cNvSpPr/>
          <p:nvPr/>
        </p:nvSpPr>
        <p:spPr>
          <a:xfrm>
            <a:off x="9700000" y="4270000"/>
            <a:ext cx="35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Financial Stress Index</a:t>
            </a:r>
            <a:endParaRPr lang="en-US" sz="1700" dirty="0"/>
          </a:p>
        </p:txBody>
      </p:sp>
      <p:sp>
        <p:nvSpPr>
          <p:cNvPr id="19" name="td2-13400000"/>
          <p:cNvSpPr/>
          <p:nvPr/>
        </p:nvSpPr>
        <p:spPr>
          <a:xfrm>
            <a:off x="13400000" y="4270000"/>
            <a:ext cx="24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 66th pct (-0.17)</a:t>
            </a:r>
            <a:endParaRPr lang="en-US" sz="1700" dirty="0"/>
          </a:p>
        </p:txBody>
      </p:sp>
      <p:sp>
        <p:nvSpPr>
          <p:cNvPr id="20" name="td2-15800000"/>
          <p:cNvSpPr/>
          <p:nvPr/>
        </p:nvSpPr>
        <p:spPr>
          <a:xfrm>
            <a:off x="15800000" y="4270000"/>
            <a:ext cx="13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34.1%</a:t>
            </a:r>
            <a:endParaRPr lang="en-US" sz="1700" dirty="0"/>
          </a:p>
        </p:txBody>
      </p:sp>
      <p:cxnSp>
        <p:nvCxnSpPr>
          <p:cNvPr id="21" name="line"/>
          <p:cNvCxnSpPr/>
          <p:nvPr/>
        </p:nvCxnSpPr>
        <p:spPr>
          <a:xfrm>
            <a:off x="9700000" y="4810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22" name="td3-9700000"/>
          <p:cNvSpPr/>
          <p:nvPr/>
        </p:nvSpPr>
        <p:spPr>
          <a:xfrm>
            <a:off x="9700000" y="4890000"/>
            <a:ext cx="35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VIX</a:t>
            </a:r>
            <a:endParaRPr lang="en-US" sz="1700" dirty="0"/>
          </a:p>
        </p:txBody>
      </p:sp>
      <p:sp>
        <p:nvSpPr>
          <p:cNvPr id="23" name="td3-13400000"/>
          <p:cNvSpPr/>
          <p:nvPr/>
        </p:nvSpPr>
        <p:spPr>
          <a:xfrm>
            <a:off x="13400000" y="4890000"/>
            <a:ext cx="24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 66th pct (19.06)</a:t>
            </a:r>
            <a:endParaRPr lang="en-US" sz="1700" dirty="0"/>
          </a:p>
        </p:txBody>
      </p:sp>
      <p:sp>
        <p:nvSpPr>
          <p:cNvPr id="24" name="td3-15800000"/>
          <p:cNvSpPr/>
          <p:nvPr/>
        </p:nvSpPr>
        <p:spPr>
          <a:xfrm>
            <a:off x="15800000" y="4890000"/>
            <a:ext cx="13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34.0%</a:t>
            </a:r>
            <a:endParaRPr lang="en-US" sz="1700" dirty="0"/>
          </a:p>
        </p:txBody>
      </p:sp>
      <p:cxnSp>
        <p:nvCxnSpPr>
          <p:cNvPr id="25" name="line"/>
          <p:cNvCxnSpPr/>
          <p:nvPr/>
        </p:nvCxnSpPr>
        <p:spPr>
          <a:xfrm>
            <a:off x="9700000" y="5430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26" name="td4-9700000"/>
          <p:cNvSpPr/>
          <p:nvPr/>
        </p:nvSpPr>
        <p:spPr>
          <a:xfrm>
            <a:off x="9700000" y="5510000"/>
            <a:ext cx="35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stress_any (≥ 1 fires)</a:t>
            </a:r>
            <a:endParaRPr lang="en-US" sz="1700" dirty="0"/>
          </a:p>
        </p:txBody>
      </p:sp>
      <p:sp>
        <p:nvSpPr>
          <p:cNvPr id="27" name="td4-13400000"/>
          <p:cNvSpPr/>
          <p:nvPr/>
        </p:nvSpPr>
        <p:spPr>
          <a:xfrm>
            <a:off x="13400000" y="5510000"/>
            <a:ext cx="24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Robustness check</a:t>
            </a:r>
            <a:endParaRPr lang="en-US" sz="1700" dirty="0"/>
          </a:p>
        </p:txBody>
      </p:sp>
      <p:sp>
        <p:nvSpPr>
          <p:cNvPr id="28" name="td4-15800000"/>
          <p:cNvSpPr/>
          <p:nvPr/>
        </p:nvSpPr>
        <p:spPr>
          <a:xfrm>
            <a:off x="15800000" y="5510000"/>
            <a:ext cx="13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56.3%</a:t>
            </a:r>
            <a:endParaRPr lang="en-US" sz="1700" dirty="0"/>
          </a:p>
        </p:txBody>
      </p:sp>
      <p:cxnSp>
        <p:nvCxnSpPr>
          <p:cNvPr id="29" name="line"/>
          <p:cNvCxnSpPr/>
          <p:nvPr/>
        </p:nvCxnSpPr>
        <p:spPr>
          <a:xfrm>
            <a:off x="9700000" y="6050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30" name="rect"/>
          <p:cNvSpPr/>
          <p:nvPr/>
        </p:nvSpPr>
        <p:spPr>
          <a:xfrm>
            <a:off x="9650000" y="6050000"/>
            <a:ext cx="7500000" cy="620000"/>
          </a:xfrm>
          <a:prstGeom prst="rect">
            <a:avLst/>
          </a:prstGeom>
          <a:solidFill>
            <a:srgbClr val="FBF5E8"/>
          </a:solidFill>
          <a:ln/>
        </p:spPr>
        <p:txBody>
          <a:bodyPr/>
          <a:lstStyle/>
          <a:p>
            <a:endParaRPr lang="en-US"/>
          </a:p>
        </p:txBody>
      </p:sp>
      <p:sp>
        <p:nvSpPr>
          <p:cNvPr id="31" name="td5-9700000"/>
          <p:cNvSpPr/>
          <p:nvPr/>
        </p:nvSpPr>
        <p:spPr>
          <a:xfrm>
            <a:off x="9700000" y="6130000"/>
            <a:ext cx="35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b="1" dirty="0">
                <a:solidFill>
                  <a:srgbClr val="9A6B1F"/>
                </a:solidFill>
                <a:latin typeface="Helvetica Neue" pitchFamily="34" charset="0"/>
                <a:ea typeface="Helvetica Neue" pitchFamily="34" charset="-122"/>
                <a:cs typeface="Helvetica Neue" pitchFamily="34" charset="-120"/>
              </a:rPr>
              <a:t>stress_all (all 3 fire)</a:t>
            </a:r>
            <a:endParaRPr lang="en-US" sz="1700" dirty="0"/>
          </a:p>
        </p:txBody>
      </p:sp>
      <p:sp>
        <p:nvSpPr>
          <p:cNvPr id="32" name="td5-13400000"/>
          <p:cNvSpPr/>
          <p:nvPr/>
        </p:nvSpPr>
        <p:spPr>
          <a:xfrm>
            <a:off x="13400000" y="6130000"/>
            <a:ext cx="24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b="1" dirty="0">
                <a:solidFill>
                  <a:srgbClr val="6A6A6A"/>
                </a:solidFill>
                <a:latin typeface="Helvetica Neue" pitchFamily="34" charset="0"/>
                <a:ea typeface="Helvetica Neue" pitchFamily="34" charset="-122"/>
                <a:cs typeface="Helvetica Neue" pitchFamily="34" charset="-120"/>
              </a:rPr>
              <a:t>Severe stress only</a:t>
            </a:r>
            <a:endParaRPr lang="en-US" sz="1700" dirty="0"/>
          </a:p>
        </p:txBody>
      </p:sp>
      <p:sp>
        <p:nvSpPr>
          <p:cNvPr id="33" name="td5-15800000"/>
          <p:cNvSpPr/>
          <p:nvPr/>
        </p:nvSpPr>
        <p:spPr>
          <a:xfrm>
            <a:off x="15800000" y="6130000"/>
            <a:ext cx="13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b="1" dirty="0">
                <a:solidFill>
                  <a:srgbClr val="9A6B1F"/>
                </a:solidFill>
                <a:latin typeface="Helvetica Neue" pitchFamily="34" charset="0"/>
                <a:ea typeface="Helvetica Neue" pitchFamily="34" charset="-122"/>
                <a:cs typeface="Helvetica Neue" pitchFamily="34" charset="-120"/>
              </a:rPr>
              <a:t>14.3%</a:t>
            </a:r>
            <a:endParaRPr lang="en-US" sz="1700" dirty="0"/>
          </a:p>
        </p:txBody>
      </p:sp>
      <p:cxnSp>
        <p:nvCxnSpPr>
          <p:cNvPr id="34" name="line"/>
          <p:cNvCxnSpPr/>
          <p:nvPr/>
        </p:nvCxnSpPr>
        <p:spPr>
          <a:xfrm>
            <a:off x="9700000" y="6670000"/>
            <a:ext cx="74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35" name="table-caption"/>
          <p:cNvSpPr/>
          <p:nvPr/>
        </p:nvSpPr>
        <p:spPr>
          <a:xfrm>
            <a:off x="9700000" y="6730000"/>
            <a:ext cx="7400000" cy="800000"/>
          </a:xfrm>
          <a:prstGeom prst="rect">
            <a:avLst/>
          </a:prstGeom>
          <a:noFill/>
          <a:ln/>
        </p:spPr>
        <p:txBody>
          <a:bodyPr wrap="square" lIns="25400" tIns="25400" rIns="25400" bIns="25400" rtlCol="0" anchor="t">
            <a:normAutofit/>
          </a:bodyPr>
          <a:lstStyle/>
          <a:p>
            <a:pPr marL="0" indent="0" algn="l">
              <a:lnSpc>
                <a:spcPct val="140000"/>
              </a:lnSpc>
              <a:buNone/>
            </a:pPr>
            <a:r>
              <a:rPr lang="en-US" sz="1500" i="1" dirty="0">
                <a:solidFill>
                  <a:srgbClr val="6A6A6A"/>
                </a:solidFill>
                <a:latin typeface="Helvetica Neue" pitchFamily="34" charset="0"/>
                <a:ea typeface="Helvetica Neue" pitchFamily="34" charset="-122"/>
                <a:cs typeface="Helvetica Neue" pitchFamily="34" charset="-120"/>
              </a:rPr>
              <a:t>We use multiple stress definitions so a finding only counts when it survives more than one threshold.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KEY FINDINGS FROM DATA ANALYSIS · 1 OF 3</a:t>
            </a:r>
            <a:endParaRPr lang="en-US" sz="1800" dirty="0"/>
          </a:p>
        </p:txBody>
      </p:sp>
      <p:sp>
        <p:nvSpPr>
          <p:cNvPr id="3" name="Text 1"/>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Key findings from exploratory analysis.</a:t>
            </a:r>
            <a:endParaRPr lang="en-US" sz="4500" dirty="0"/>
          </a:p>
        </p:txBody>
      </p:sp>
      <p:sp>
        <p:nvSpPr>
          <p:cNvPr id="4" name="Text 2"/>
          <p:cNvSpPr/>
          <p:nvPr/>
        </p:nvSpPr>
        <p:spPr>
          <a:xfrm>
            <a:off x="1143000" y="2377380"/>
            <a:ext cx="9271159"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Statistical foundation.</a:t>
            </a:r>
            <a:endParaRPr lang="en-US" sz="2400" dirty="0"/>
          </a:p>
        </p:txBody>
      </p:sp>
      <p:sp>
        <p:nvSpPr>
          <p:cNvPr id="5" name="Text 3"/>
          <p:cNvSpPr/>
          <p:nvPr/>
        </p:nvSpPr>
        <p:spPr>
          <a:xfrm>
            <a:off x="1143000" y="2861221"/>
            <a:ext cx="9271159" cy="1198066"/>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6A6A6A"/>
                </a:solidFill>
                <a:latin typeface="Helvetica Neue" pitchFamily="34" charset="0"/>
                <a:ea typeface="Helvetica Neue" pitchFamily="34" charset="-122"/>
                <a:cs typeface="Helvetica Neue" pitchFamily="34" charset="-120"/>
              </a:rPr>
              <a:t>Asset prices proved non-stationary, while log returns were stationary. Granger causality tests indicated that lagged equity returns provide a statistically significant predictive signal for Gold at medium lags.</a:t>
            </a:r>
            <a:endParaRPr lang="en-US" sz="2100" dirty="0"/>
          </a:p>
        </p:txBody>
      </p:sp>
      <p:sp>
        <p:nvSpPr>
          <p:cNvPr id="6" name="Text 4"/>
          <p:cNvSpPr/>
          <p:nvPr/>
        </p:nvSpPr>
        <p:spPr>
          <a:xfrm>
            <a:off x="1143000" y="4306937"/>
            <a:ext cx="9271159"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The stress premium.</a:t>
            </a:r>
            <a:endParaRPr lang="en-US" sz="2400" dirty="0"/>
          </a:p>
        </p:txBody>
      </p:sp>
      <p:sp>
        <p:nvSpPr>
          <p:cNvPr id="7" name="Text 5"/>
          <p:cNvSpPr/>
          <p:nvPr/>
        </p:nvSpPr>
        <p:spPr>
          <a:xfrm>
            <a:off x="1143000" y="4790777"/>
            <a:ext cx="9271159" cy="1198066"/>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6A6A6A"/>
                </a:solidFill>
                <a:latin typeface="Helvetica Neue" pitchFamily="34" charset="0"/>
                <a:ea typeface="Helvetica Neue" pitchFamily="34" charset="-122"/>
                <a:cs typeface="Helvetica Neue" pitchFamily="34" charset="-120"/>
              </a:rPr>
              <a:t>Under high-stress regimes (e.g. elevated VIX), Gold reliably outperformed equities. During VIX stress, Gold's mean daily log return was positive while SPY's was negative — widening the differential significantly.</a:t>
            </a:r>
            <a:endParaRPr lang="en-US" sz="2100" dirty="0"/>
          </a:p>
        </p:txBody>
      </p:sp>
      <p:sp>
        <p:nvSpPr>
          <p:cNvPr id="8" name="Text 6"/>
          <p:cNvSpPr/>
          <p:nvPr/>
        </p:nvSpPr>
        <p:spPr>
          <a:xfrm>
            <a:off x="1143000" y="6236494"/>
            <a:ext cx="9271159"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Volatility &amp; crisis events.</a:t>
            </a:r>
            <a:endParaRPr lang="en-US" sz="2400" dirty="0"/>
          </a:p>
        </p:txBody>
      </p:sp>
      <p:sp>
        <p:nvSpPr>
          <p:cNvPr id="9" name="Text 7"/>
          <p:cNvSpPr/>
          <p:nvPr/>
        </p:nvSpPr>
        <p:spPr>
          <a:xfrm>
            <a:off x="1143000" y="6720334"/>
            <a:ext cx="9271159" cy="1584722"/>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6A6A6A"/>
                </a:solidFill>
                <a:latin typeface="Helvetica Neue" pitchFamily="34" charset="0"/>
                <a:ea typeface="Helvetica Neue" pitchFamily="34" charset="-122"/>
                <a:cs typeface="Helvetica Neue" pitchFamily="34" charset="-120"/>
              </a:rPr>
              <a:t>Gold's volatility rises during stress, but far less dramatically than SPY's. Event studies showed Gold protected capital during the 2020 COVID crash, though its defensive behavior was much more mixed during the 2022 inflation / rates crisis.</a:t>
            </a:r>
            <a:endParaRPr lang="en-US" sz="2100" dirty="0"/>
          </a:p>
        </p:txBody>
      </p:sp>
      <p:sp>
        <p:nvSpPr>
          <p:cNvPr id="10" name="Text 8"/>
          <p:cNvSpPr/>
          <p:nvPr/>
        </p:nvSpPr>
        <p:spPr>
          <a:xfrm>
            <a:off x="10715625" y="2377380"/>
            <a:ext cx="6622256" cy="411361"/>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Mean daily log return by VIX regime</a:t>
            </a:r>
            <a:endParaRPr lang="en-US" sz="2100" dirty="0"/>
          </a:p>
        </p:txBody>
      </p:sp>
      <p:sp>
        <p:nvSpPr>
          <p:cNvPr id="11" name="Shape 9"/>
          <p:cNvSpPr/>
          <p:nvPr/>
        </p:nvSpPr>
        <p:spPr>
          <a:xfrm>
            <a:off x="10715625" y="3465909"/>
            <a:ext cx="3073747" cy="9525"/>
          </a:xfrm>
          <a:prstGeom prst="rect">
            <a:avLst/>
          </a:prstGeom>
          <a:solidFill>
            <a:srgbClr val="1A1A1A"/>
          </a:solidFill>
          <a:ln/>
        </p:spPr>
        <p:txBody>
          <a:bodyPr/>
          <a:lstStyle/>
          <a:p>
            <a:endParaRPr lang="en-US"/>
          </a:p>
        </p:txBody>
      </p:sp>
      <p:sp>
        <p:nvSpPr>
          <p:cNvPr id="12" name="Text 10"/>
          <p:cNvSpPr/>
          <p:nvPr/>
        </p:nvSpPr>
        <p:spPr>
          <a:xfrm>
            <a:off x="10868025" y="3017341"/>
            <a:ext cx="2861160" cy="353318"/>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52" dirty="0">
                <a:solidFill>
                  <a:srgbClr val="6A6A6A"/>
                </a:solidFill>
                <a:latin typeface="SFMono-Regular" pitchFamily="34" charset="0"/>
                <a:ea typeface="SFMono-Regular" pitchFamily="34" charset="-122"/>
                <a:cs typeface="SFMono-Regular" pitchFamily="34" charset="-120"/>
              </a:rPr>
              <a:t>REGIME</a:t>
            </a:r>
            <a:endParaRPr lang="en-US" sz="1800" dirty="0"/>
          </a:p>
        </p:txBody>
      </p:sp>
      <p:sp>
        <p:nvSpPr>
          <p:cNvPr id="13" name="Shape 11"/>
          <p:cNvSpPr/>
          <p:nvPr/>
        </p:nvSpPr>
        <p:spPr>
          <a:xfrm>
            <a:off x="13789372" y="3465909"/>
            <a:ext cx="1677739" cy="9525"/>
          </a:xfrm>
          <a:prstGeom prst="rect">
            <a:avLst/>
          </a:prstGeom>
          <a:solidFill>
            <a:srgbClr val="1A1A1A"/>
          </a:solidFill>
          <a:ln/>
        </p:spPr>
        <p:txBody>
          <a:bodyPr/>
          <a:lstStyle/>
          <a:p>
            <a:endParaRPr lang="en-US"/>
          </a:p>
        </p:txBody>
      </p:sp>
      <p:sp>
        <p:nvSpPr>
          <p:cNvPr id="14" name="Text 12"/>
          <p:cNvSpPr/>
          <p:nvPr/>
        </p:nvSpPr>
        <p:spPr>
          <a:xfrm>
            <a:off x="13865572" y="3017341"/>
            <a:ext cx="1449139" cy="353318"/>
          </a:xfrm>
          <a:prstGeom prst="rect">
            <a:avLst/>
          </a:prstGeom>
          <a:noFill/>
          <a:ln/>
        </p:spPr>
        <p:txBody>
          <a:bodyPr wrap="square" lIns="25400" tIns="25400" rIns="25400" bIns="25400" rtlCol="0" anchor="ctr">
            <a:normAutofit/>
          </a:bodyPr>
          <a:lstStyle/>
          <a:p>
            <a:pPr marL="0" indent="0" algn="r">
              <a:lnSpc>
                <a:spcPct val="140000"/>
              </a:lnSpc>
              <a:buNone/>
            </a:pPr>
            <a:r>
              <a:rPr lang="en-US" sz="1800" kern="0" spc="252" dirty="0">
                <a:solidFill>
                  <a:srgbClr val="6A6A6A"/>
                </a:solidFill>
                <a:latin typeface="SFMono-Regular" pitchFamily="34" charset="0"/>
                <a:ea typeface="SFMono-Regular" pitchFamily="34" charset="-122"/>
                <a:cs typeface="SFMono-Regular" pitchFamily="34" charset="-120"/>
              </a:rPr>
              <a:t>GOLD</a:t>
            </a:r>
            <a:endParaRPr lang="en-US" sz="1800" dirty="0"/>
          </a:p>
        </p:txBody>
      </p:sp>
      <p:sp>
        <p:nvSpPr>
          <p:cNvPr id="15" name="Shape 13"/>
          <p:cNvSpPr/>
          <p:nvPr/>
        </p:nvSpPr>
        <p:spPr>
          <a:xfrm>
            <a:off x="15467112" y="3465909"/>
            <a:ext cx="1677888" cy="9525"/>
          </a:xfrm>
          <a:prstGeom prst="rect">
            <a:avLst/>
          </a:prstGeom>
          <a:solidFill>
            <a:srgbClr val="1A1A1A"/>
          </a:solidFill>
          <a:ln/>
        </p:spPr>
        <p:txBody>
          <a:bodyPr/>
          <a:lstStyle/>
          <a:p>
            <a:endParaRPr lang="en-US"/>
          </a:p>
        </p:txBody>
      </p:sp>
      <p:sp>
        <p:nvSpPr>
          <p:cNvPr id="16" name="Text 14"/>
          <p:cNvSpPr/>
          <p:nvPr/>
        </p:nvSpPr>
        <p:spPr>
          <a:xfrm>
            <a:off x="15543312" y="3017341"/>
            <a:ext cx="1449288" cy="353318"/>
          </a:xfrm>
          <a:prstGeom prst="rect">
            <a:avLst/>
          </a:prstGeom>
          <a:noFill/>
          <a:ln/>
        </p:spPr>
        <p:txBody>
          <a:bodyPr wrap="square" lIns="25400" tIns="25400" rIns="25400" bIns="25400" rtlCol="0" anchor="ctr">
            <a:normAutofit/>
          </a:bodyPr>
          <a:lstStyle/>
          <a:p>
            <a:pPr marL="0" indent="0" algn="r">
              <a:lnSpc>
                <a:spcPct val="140000"/>
              </a:lnSpc>
              <a:buNone/>
            </a:pPr>
            <a:r>
              <a:rPr lang="en-US" sz="1800" kern="0" spc="252" dirty="0">
                <a:solidFill>
                  <a:srgbClr val="6A6A6A"/>
                </a:solidFill>
                <a:latin typeface="SFMono-Regular" pitchFamily="34" charset="0"/>
                <a:ea typeface="SFMono-Regular" pitchFamily="34" charset="-122"/>
                <a:cs typeface="SFMono-Regular" pitchFamily="34" charset="-120"/>
              </a:rPr>
              <a:t>SPY</a:t>
            </a:r>
            <a:endParaRPr lang="en-US" sz="1800" dirty="0"/>
          </a:p>
        </p:txBody>
      </p:sp>
      <p:sp>
        <p:nvSpPr>
          <p:cNvPr id="17" name="Shape 15"/>
          <p:cNvSpPr/>
          <p:nvPr/>
        </p:nvSpPr>
        <p:spPr>
          <a:xfrm>
            <a:off x="10715625" y="4115395"/>
            <a:ext cx="3073747" cy="9525"/>
          </a:xfrm>
          <a:prstGeom prst="rect">
            <a:avLst/>
          </a:prstGeom>
          <a:solidFill>
            <a:srgbClr val="D9D9D6"/>
          </a:solidFill>
          <a:ln/>
        </p:spPr>
        <p:txBody>
          <a:bodyPr/>
          <a:lstStyle/>
          <a:p>
            <a:endParaRPr lang="en-US"/>
          </a:p>
        </p:txBody>
      </p:sp>
      <p:sp>
        <p:nvSpPr>
          <p:cNvPr id="18" name="Text 16"/>
          <p:cNvSpPr/>
          <p:nvPr/>
        </p:nvSpPr>
        <p:spPr>
          <a:xfrm>
            <a:off x="10868025" y="3608784"/>
            <a:ext cx="2861160" cy="411361"/>
          </a:xfrm>
          <a:prstGeom prst="rect">
            <a:avLst/>
          </a:prstGeom>
          <a:noFill/>
          <a:ln/>
        </p:spPr>
        <p:txBody>
          <a:bodyPr wrap="square" lIns="25400" tIns="25400" rIns="25400" bIns="25400" rtlCol="0" anchor="ctr">
            <a:normAutofit/>
          </a:bodyPr>
          <a:lstStyle/>
          <a:p>
            <a:pPr marL="0" indent="0" algn="l">
              <a:lnSpc>
                <a:spcPct val="140000"/>
              </a:lnSpc>
              <a:buNone/>
            </a:pPr>
            <a:r>
              <a:rPr lang="en-US" sz="2100" dirty="0">
                <a:solidFill>
                  <a:srgbClr val="1A1A1A"/>
                </a:solidFill>
                <a:latin typeface="Helvetica Neue" pitchFamily="34" charset="0"/>
                <a:ea typeface="Helvetica Neue" pitchFamily="34" charset="-122"/>
                <a:cs typeface="Helvetica Neue" pitchFamily="34" charset="-120"/>
              </a:rPr>
              <a:t>Low VIX (calm)</a:t>
            </a:r>
            <a:endParaRPr lang="en-US" sz="2100" dirty="0"/>
          </a:p>
        </p:txBody>
      </p:sp>
      <p:sp>
        <p:nvSpPr>
          <p:cNvPr id="19" name="Shape 17"/>
          <p:cNvSpPr/>
          <p:nvPr/>
        </p:nvSpPr>
        <p:spPr>
          <a:xfrm>
            <a:off x="13789372" y="4115395"/>
            <a:ext cx="1677739" cy="9525"/>
          </a:xfrm>
          <a:prstGeom prst="rect">
            <a:avLst/>
          </a:prstGeom>
          <a:solidFill>
            <a:srgbClr val="D9D9D6"/>
          </a:solidFill>
          <a:ln/>
        </p:spPr>
        <p:txBody>
          <a:bodyPr/>
          <a:lstStyle/>
          <a:p>
            <a:endParaRPr lang="en-US"/>
          </a:p>
        </p:txBody>
      </p:sp>
      <p:sp>
        <p:nvSpPr>
          <p:cNvPr id="20" name="Text 18"/>
          <p:cNvSpPr/>
          <p:nvPr/>
        </p:nvSpPr>
        <p:spPr>
          <a:xfrm>
            <a:off x="13865572" y="3608784"/>
            <a:ext cx="1449139"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dirty="0">
                <a:solidFill>
                  <a:srgbClr val="1A1A1A"/>
                </a:solidFill>
                <a:latin typeface="SFMono-Regular" pitchFamily="34" charset="0"/>
                <a:ea typeface="SFMono-Regular" pitchFamily="34" charset="-122"/>
                <a:cs typeface="SFMono-Regular" pitchFamily="34" charset="-120"/>
              </a:rPr>
              <a:t>+0.015%</a:t>
            </a:r>
            <a:endParaRPr lang="en-US" sz="2100" dirty="0"/>
          </a:p>
        </p:txBody>
      </p:sp>
      <p:sp>
        <p:nvSpPr>
          <p:cNvPr id="21" name="Shape 19"/>
          <p:cNvSpPr/>
          <p:nvPr/>
        </p:nvSpPr>
        <p:spPr>
          <a:xfrm>
            <a:off x="15467112" y="4115395"/>
            <a:ext cx="1677888" cy="9525"/>
          </a:xfrm>
          <a:prstGeom prst="rect">
            <a:avLst/>
          </a:prstGeom>
          <a:solidFill>
            <a:srgbClr val="D9D9D6"/>
          </a:solidFill>
          <a:ln/>
        </p:spPr>
        <p:txBody>
          <a:bodyPr/>
          <a:lstStyle/>
          <a:p>
            <a:endParaRPr lang="en-US"/>
          </a:p>
        </p:txBody>
      </p:sp>
      <p:sp>
        <p:nvSpPr>
          <p:cNvPr id="22" name="Text 20"/>
          <p:cNvSpPr/>
          <p:nvPr/>
        </p:nvSpPr>
        <p:spPr>
          <a:xfrm>
            <a:off x="15543312" y="3608784"/>
            <a:ext cx="1449288"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dirty="0">
                <a:solidFill>
                  <a:srgbClr val="1A1A1A"/>
                </a:solidFill>
                <a:latin typeface="SFMono-Regular" pitchFamily="34" charset="0"/>
                <a:ea typeface="SFMono-Regular" pitchFamily="34" charset="-122"/>
                <a:cs typeface="SFMono-Regular" pitchFamily="34" charset="-120"/>
              </a:rPr>
              <a:t>+0.102%</a:t>
            </a:r>
            <a:endParaRPr lang="en-US" sz="2100" dirty="0"/>
          </a:p>
        </p:txBody>
      </p:sp>
      <p:sp>
        <p:nvSpPr>
          <p:cNvPr id="23" name="Shape 21"/>
          <p:cNvSpPr/>
          <p:nvPr/>
        </p:nvSpPr>
        <p:spPr>
          <a:xfrm>
            <a:off x="10715625" y="4124920"/>
            <a:ext cx="3073747" cy="649486"/>
          </a:xfrm>
          <a:prstGeom prst="rect">
            <a:avLst/>
          </a:prstGeom>
          <a:solidFill>
            <a:srgbClr val="FBF5E8"/>
          </a:solidFill>
          <a:ln/>
        </p:spPr>
        <p:txBody>
          <a:bodyPr/>
          <a:lstStyle/>
          <a:p>
            <a:endParaRPr lang="en-US"/>
          </a:p>
        </p:txBody>
      </p:sp>
      <p:sp>
        <p:nvSpPr>
          <p:cNvPr id="24" name="Shape 22"/>
          <p:cNvSpPr/>
          <p:nvPr/>
        </p:nvSpPr>
        <p:spPr>
          <a:xfrm>
            <a:off x="10715625" y="4764881"/>
            <a:ext cx="3073747" cy="9525"/>
          </a:xfrm>
          <a:prstGeom prst="rect">
            <a:avLst/>
          </a:prstGeom>
          <a:solidFill>
            <a:srgbClr val="D9D9D6"/>
          </a:solidFill>
          <a:ln/>
        </p:spPr>
        <p:txBody>
          <a:bodyPr/>
          <a:lstStyle/>
          <a:p>
            <a:endParaRPr lang="en-US"/>
          </a:p>
        </p:txBody>
      </p:sp>
      <p:sp>
        <p:nvSpPr>
          <p:cNvPr id="25" name="Text 23"/>
          <p:cNvSpPr/>
          <p:nvPr/>
        </p:nvSpPr>
        <p:spPr>
          <a:xfrm>
            <a:off x="10868025" y="4258270"/>
            <a:ext cx="2861160" cy="411361"/>
          </a:xfrm>
          <a:prstGeom prst="rect">
            <a:avLst/>
          </a:prstGeom>
          <a:noFill/>
          <a:ln/>
        </p:spPr>
        <p:txBody>
          <a:bodyPr wrap="square" lIns="25400" tIns="25400" rIns="25400" bIns="25400" rtlCol="0" anchor="ctr">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High VIX (stress)</a:t>
            </a:r>
            <a:endParaRPr lang="en-US" sz="2100" dirty="0"/>
          </a:p>
        </p:txBody>
      </p:sp>
      <p:sp>
        <p:nvSpPr>
          <p:cNvPr id="26" name="Shape 24"/>
          <p:cNvSpPr/>
          <p:nvPr/>
        </p:nvSpPr>
        <p:spPr>
          <a:xfrm>
            <a:off x="13789372" y="4124920"/>
            <a:ext cx="1677739" cy="649486"/>
          </a:xfrm>
          <a:prstGeom prst="rect">
            <a:avLst/>
          </a:prstGeom>
          <a:solidFill>
            <a:srgbClr val="FBF5E8"/>
          </a:solidFill>
          <a:ln/>
        </p:spPr>
        <p:txBody>
          <a:bodyPr/>
          <a:lstStyle/>
          <a:p>
            <a:endParaRPr lang="en-US"/>
          </a:p>
        </p:txBody>
      </p:sp>
      <p:sp>
        <p:nvSpPr>
          <p:cNvPr id="27" name="Shape 25"/>
          <p:cNvSpPr/>
          <p:nvPr/>
        </p:nvSpPr>
        <p:spPr>
          <a:xfrm>
            <a:off x="13789372" y="4764881"/>
            <a:ext cx="1677739" cy="9525"/>
          </a:xfrm>
          <a:prstGeom prst="rect">
            <a:avLst/>
          </a:prstGeom>
          <a:solidFill>
            <a:srgbClr val="D9D9D6"/>
          </a:solidFill>
          <a:ln/>
        </p:spPr>
        <p:txBody>
          <a:bodyPr/>
          <a:lstStyle/>
          <a:p>
            <a:endParaRPr lang="en-US"/>
          </a:p>
        </p:txBody>
      </p:sp>
      <p:sp>
        <p:nvSpPr>
          <p:cNvPr id="28" name="Text 26"/>
          <p:cNvSpPr/>
          <p:nvPr/>
        </p:nvSpPr>
        <p:spPr>
          <a:xfrm>
            <a:off x="13865572" y="4258270"/>
            <a:ext cx="1449139"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b="1" dirty="0">
                <a:solidFill>
                  <a:srgbClr val="9A6B1F"/>
                </a:solidFill>
                <a:latin typeface="SFMono-Regular" pitchFamily="34" charset="0"/>
                <a:ea typeface="SFMono-Regular" pitchFamily="34" charset="-122"/>
                <a:cs typeface="SFMono-Regular" pitchFamily="34" charset="-120"/>
              </a:rPr>
              <a:t>+0.068%</a:t>
            </a:r>
            <a:endParaRPr lang="en-US" sz="2100" dirty="0"/>
          </a:p>
        </p:txBody>
      </p:sp>
      <p:sp>
        <p:nvSpPr>
          <p:cNvPr id="29" name="Shape 27"/>
          <p:cNvSpPr/>
          <p:nvPr/>
        </p:nvSpPr>
        <p:spPr>
          <a:xfrm>
            <a:off x="15467112" y="4124920"/>
            <a:ext cx="1677888" cy="649486"/>
          </a:xfrm>
          <a:prstGeom prst="rect">
            <a:avLst/>
          </a:prstGeom>
          <a:solidFill>
            <a:srgbClr val="FBF5E8"/>
          </a:solidFill>
          <a:ln/>
        </p:spPr>
        <p:txBody>
          <a:bodyPr/>
          <a:lstStyle/>
          <a:p>
            <a:endParaRPr lang="en-US"/>
          </a:p>
        </p:txBody>
      </p:sp>
      <p:sp>
        <p:nvSpPr>
          <p:cNvPr id="30" name="Shape 28"/>
          <p:cNvSpPr/>
          <p:nvPr/>
        </p:nvSpPr>
        <p:spPr>
          <a:xfrm>
            <a:off x="15467112" y="4764881"/>
            <a:ext cx="1677888" cy="9525"/>
          </a:xfrm>
          <a:prstGeom prst="rect">
            <a:avLst/>
          </a:prstGeom>
          <a:solidFill>
            <a:srgbClr val="D9D9D6"/>
          </a:solidFill>
          <a:ln/>
        </p:spPr>
        <p:txBody>
          <a:bodyPr/>
          <a:lstStyle/>
          <a:p>
            <a:endParaRPr lang="en-US"/>
          </a:p>
        </p:txBody>
      </p:sp>
      <p:sp>
        <p:nvSpPr>
          <p:cNvPr id="31" name="Text 29"/>
          <p:cNvSpPr/>
          <p:nvPr/>
        </p:nvSpPr>
        <p:spPr>
          <a:xfrm>
            <a:off x="15543312" y="4258270"/>
            <a:ext cx="1449288"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b="1" dirty="0">
                <a:solidFill>
                  <a:srgbClr val="9A6B1F"/>
                </a:solidFill>
                <a:latin typeface="SFMono-Regular" pitchFamily="34" charset="0"/>
                <a:ea typeface="SFMono-Regular" pitchFamily="34" charset="-122"/>
                <a:cs typeface="SFMono-Regular" pitchFamily="34" charset="-120"/>
              </a:rPr>
              <a:t>−0.092%</a:t>
            </a:r>
            <a:endParaRPr lang="en-US" sz="2100" dirty="0"/>
          </a:p>
        </p:txBody>
      </p:sp>
      <p:sp>
        <p:nvSpPr>
          <p:cNvPr id="32" name="Text 30"/>
          <p:cNvSpPr/>
          <p:nvPr/>
        </p:nvSpPr>
        <p:spPr>
          <a:xfrm>
            <a:off x="10715625" y="4893469"/>
            <a:ext cx="6622256" cy="1318022"/>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A6A"/>
                </a:solidFill>
                <a:latin typeface="Helvetica Neue" pitchFamily="34" charset="0"/>
                <a:ea typeface="Helvetica Neue" pitchFamily="34" charset="-122"/>
                <a:cs typeface="Helvetica Neue" pitchFamily="34" charset="-120"/>
              </a:rPr>
              <a:t>In calm markets, SPY earns more than Gold. When the VIX spikes, the sign flips — Gold goes up while SPY loses money on average. That sign-flip is what "safe haven" means in the data.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Findings 2 of 3">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KEY FINDINGS FROM DATA ANALYSIS · 2 OF 3</a:t>
            </a:r>
            <a:endParaRPr lang="en-US" sz="1800" dirty="0"/>
          </a:p>
        </p:txBody>
      </p:sp>
      <p:sp>
        <p:nvSpPr>
          <p:cNvPr id="3" name="title"/>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Volatility &amp; correlation tell the cleanest story.</a:t>
            </a:r>
            <a:endParaRPr lang="en-US" sz="4500" dirty="0"/>
          </a:p>
        </p:txBody>
      </p:sp>
      <p:sp>
        <p:nvSpPr>
          <p:cNvPr id="4" name="lh1"/>
          <p:cNvSpPr/>
          <p:nvPr/>
        </p:nvSpPr>
        <p:spPr>
          <a:xfrm>
            <a:off x="1143000" y="2377380"/>
            <a:ext cx="90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Volatility expansion is asymmetric.</a:t>
            </a:r>
            <a:endParaRPr lang="en-US" sz="2400" dirty="0"/>
          </a:p>
        </p:txBody>
      </p:sp>
      <p:sp>
        <p:nvSpPr>
          <p:cNvPr id="5" name="lb1"/>
          <p:cNvSpPr/>
          <p:nvPr/>
        </p:nvSpPr>
        <p:spPr>
          <a:xfrm>
            <a:off x="1143000" y="2861221"/>
            <a:ext cx="9000000" cy="2400000"/>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6A6A6A"/>
                </a:solidFill>
                <a:latin typeface="Helvetica Neue" pitchFamily="34" charset="0"/>
                <a:ea typeface="Helvetica Neue" pitchFamily="34" charset="-122"/>
                <a:cs typeface="Helvetica Neue" pitchFamily="34" charset="-120"/>
              </a:rPr>
              <a:t>When stress hits, SPY's 30-day volatility nearly doubles — jumping from </a:t>
            </a:r>
            <a:r>
              <a:rPr lang="en-US" sz="2000" b="1" dirty="0">
                <a:solidFill>
                  <a:srgbClr val="1A1A1A"/>
                </a:solidFill>
                <a:latin typeface="Helvetica Neue" pitchFamily="34" charset="0"/>
                <a:ea typeface="Helvetica Neue" pitchFamily="34" charset="-122"/>
                <a:cs typeface="Helvetica Neue" pitchFamily="34" charset="-120"/>
              </a:rPr>
              <a:t>8.5% to 15.2%</a:t>
            </a:r>
            <a:r>
              <a:rPr lang="en-US" sz="2000" dirty="0">
                <a:solidFill>
                  <a:srgbClr val="6A6A6A"/>
                </a:solidFill>
                <a:latin typeface="Helvetica Neue" pitchFamily="34" charset="0"/>
                <a:ea typeface="Helvetica Neue" pitchFamily="34" charset="-122"/>
                <a:cs typeface="Helvetica Neue" pitchFamily="34" charset="-120"/>
              </a:rPr>
              <a:t>. Gold barely flinches: </a:t>
            </a:r>
            <a:r>
              <a:rPr lang="en-US" sz="2000" b="1" dirty="0">
                <a:solidFill>
                  <a:srgbClr val="1A1A1A"/>
                </a:solidFill>
                <a:latin typeface="Helvetica Neue" pitchFamily="34" charset="0"/>
                <a:ea typeface="Helvetica Neue" pitchFamily="34" charset="-122"/>
                <a:cs typeface="Helvetica Neue" pitchFamily="34" charset="-120"/>
              </a:rPr>
              <a:t>10.4% to 13.0%</a:t>
            </a:r>
            <a:r>
              <a:rPr lang="en-US" sz="2000" dirty="0">
                <a:solidFill>
                  <a:srgbClr val="6A6A6A"/>
                </a:solidFill>
                <a:latin typeface="Helvetica Neue" pitchFamily="34" charset="0"/>
                <a:ea typeface="Helvetica Neue" pitchFamily="34" charset="-122"/>
                <a:cs typeface="Helvetica Neue" pitchFamily="34" charset="-120"/>
              </a:rPr>
              <a:t>. That gap is the data definition of defensiveness — Gold doesn't avoid risk entirely, it just absorbs far less of it. Bitcoin sits at ~60% in both regimes, behaving like a permanently risky asset.</a:t>
            </a:r>
            <a:endParaRPr lang="en-US" sz="2000" dirty="0"/>
          </a:p>
        </p:txBody>
      </p:sp>
      <p:sp>
        <p:nvSpPr>
          <p:cNvPr id="6" name="lh2"/>
          <p:cNvSpPr/>
          <p:nvPr/>
        </p:nvSpPr>
        <p:spPr>
          <a:xfrm>
            <a:off x="1143000" y="5500000"/>
            <a:ext cx="90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Correlation drops when stress hits.</a:t>
            </a:r>
            <a:endParaRPr lang="en-US" sz="2400" dirty="0"/>
          </a:p>
        </p:txBody>
      </p:sp>
      <p:sp>
        <p:nvSpPr>
          <p:cNvPr id="7" name="lb2"/>
          <p:cNvSpPr/>
          <p:nvPr/>
        </p:nvSpPr>
        <p:spPr>
          <a:xfrm>
            <a:off x="1143000" y="5984000"/>
            <a:ext cx="9000000" cy="3000000"/>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6A6A6A"/>
                </a:solidFill>
                <a:latin typeface="Helvetica Neue" pitchFamily="34" charset="0"/>
                <a:ea typeface="Helvetica Neue" pitchFamily="34" charset="-122"/>
                <a:cs typeface="Helvetica Neue" pitchFamily="34" charset="-120"/>
              </a:rPr>
              <a:t>The 60-day rolling correlation between Gold and SPY </a:t>
            </a:r>
            <a:r>
              <a:rPr lang="en-US" sz="2000" b="1" dirty="0">
                <a:solidFill>
                  <a:srgbClr val="1A1A1A"/>
                </a:solidFill>
                <a:latin typeface="Helvetica Neue" pitchFamily="34" charset="0"/>
                <a:ea typeface="Helvetica Neue" pitchFamily="34" charset="-122"/>
                <a:cs typeface="Helvetica Neue" pitchFamily="34" charset="-120"/>
              </a:rPr>
              <a:t>falls toward zero in stress periods</a:t>
            </a:r>
            <a:r>
              <a:rPr lang="en-US" sz="2000" dirty="0">
                <a:solidFill>
                  <a:srgbClr val="6A6A6A"/>
                </a:solidFill>
                <a:latin typeface="Helvetica Neue" pitchFamily="34" charset="0"/>
                <a:ea typeface="Helvetica Neue" pitchFamily="34" charset="-122"/>
                <a:cs typeface="Helvetica Neue" pitchFamily="34" charset="-120"/>
              </a:rPr>
              <a:t> — and a bootstrap 95% confidence interval on that drop excludes zero. In plain terms: </a:t>
            </a:r>
            <a:r>
              <a:rPr lang="en-US" sz="2000" b="1" dirty="0">
                <a:solidFill>
                  <a:srgbClr val="1A1A1A"/>
                </a:solidFill>
                <a:latin typeface="Helvetica Neue" pitchFamily="34" charset="0"/>
                <a:ea typeface="Helvetica Neue" pitchFamily="34" charset="-122"/>
                <a:cs typeface="Helvetica Neue" pitchFamily="34" charset="-120"/>
              </a:rPr>
              <a:t>Gold genuinely decouples from equities exactly when investors need it to.</a:t>
            </a:r>
            <a:r>
              <a:rPr lang="en-US" sz="2000" dirty="0">
                <a:solidFill>
                  <a:srgbClr val="6A6A6A"/>
                </a:solidFill>
                <a:latin typeface="Helvetica Neue" pitchFamily="34" charset="0"/>
                <a:ea typeface="Helvetica Neue" pitchFamily="34" charset="-122"/>
                <a:cs typeface="Helvetica Neue" pitchFamily="34" charset="-120"/>
              </a:rPr>
              <a:t> Bitcoin behaves the opposite way — its correlation with Gold </a:t>
            </a:r>
            <a:r>
              <a:rPr lang="en-US" sz="2000" b="1" i="1" dirty="0">
                <a:solidFill>
                  <a:srgbClr val="1A1A1A"/>
                </a:solidFill>
                <a:latin typeface="Helvetica Neue" pitchFamily="34" charset="0"/>
                <a:ea typeface="Helvetica Neue" pitchFamily="34" charset="-122"/>
                <a:cs typeface="Helvetica Neue" pitchFamily="34" charset="-120"/>
              </a:rPr>
              <a:t>rises</a:t>
            </a:r>
            <a:r>
              <a:rPr lang="en-US" sz="2000" dirty="0">
                <a:solidFill>
                  <a:srgbClr val="6A6A6A"/>
                </a:solidFill>
                <a:latin typeface="Helvetica Neue" pitchFamily="34" charset="0"/>
                <a:ea typeface="Helvetica Neue" pitchFamily="34" charset="-122"/>
                <a:cs typeface="Helvetica Neue" pitchFamily="34" charset="-120"/>
              </a:rPr>
              <a:t> in stress, reinforcing that BTC moves with risk assets, not against them.</a:t>
            </a:r>
            <a:endParaRPr lang="en-US" sz="2000" dirty="0"/>
          </a:p>
        </p:txBody>
      </p:sp>
      <p:sp>
        <p:nvSpPr>
          <p:cNvPr id="8" name="rh"/>
          <p:cNvSpPr/>
          <p:nvPr/>
        </p:nvSpPr>
        <p:spPr>
          <a:xfrm>
            <a:off x="10500000" y="2377380"/>
            <a:ext cx="68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1700" b="1" dirty="0">
                <a:solidFill>
                  <a:srgbClr val="1A1A1A"/>
                </a:solidFill>
                <a:latin typeface="Helvetica Neue" pitchFamily="34" charset="0"/>
                <a:ea typeface="Helvetica Neue" pitchFamily="34" charset="-122"/>
                <a:cs typeface="Helvetica Neue" pitchFamily="34" charset="-120"/>
              </a:rPr>
              <a:t>30-day rolling volatility · low vs high stress</a:t>
            </a:r>
            <a:endParaRPr lang="en-US" sz="1700" dirty="0"/>
          </a:p>
        </p:txBody>
      </p:sp>
      <p:pic>
        <p:nvPicPr>
          <p:cNvPr id="9" name="Chart_vol"/>
          <p:cNvPicPr>
            <a:picLocks noChangeAspect="1"/>
          </p:cNvPicPr>
          <p:nvPr/>
        </p:nvPicPr>
        <p:blipFill>
          <a:blip r:embed="rId2"/>
          <a:stretch>
            <a:fillRect/>
          </a:stretch>
        </p:blipFill>
        <p:spPr>
          <a:xfrm>
            <a:off x="10450000" y="2950000"/>
            <a:ext cx="6900000" cy="3700000"/>
          </a:xfrm>
          <a:prstGeom prst="rect">
            <a:avLst/>
          </a:prstGeom>
        </p:spPr>
      </p:pic>
      <p:sp>
        <p:nvSpPr>
          <p:cNvPr id="10" name="vcap"/>
          <p:cNvSpPr/>
          <p:nvPr/>
        </p:nvSpPr>
        <p:spPr>
          <a:xfrm>
            <a:off x="10500000" y="6800000"/>
            <a:ext cx="6800000" cy="1700000"/>
          </a:xfrm>
          <a:prstGeom prst="rect">
            <a:avLst/>
          </a:prstGeom>
          <a:noFill/>
          <a:ln/>
        </p:spPr>
        <p:txBody>
          <a:bodyPr wrap="square" lIns="25400" tIns="25400" rIns="25400" bIns="25400" rtlCol="0" anchor="t">
            <a:normAutofit/>
          </a:bodyPr>
          <a:lstStyle/>
          <a:p>
            <a:pPr marL="0" indent="0" algn="l">
              <a:lnSpc>
                <a:spcPct val="145000"/>
              </a:lnSpc>
              <a:buNone/>
            </a:pPr>
            <a:r>
              <a:rPr lang="en-US" sz="1600" dirty="0">
                <a:solidFill>
                  <a:srgbClr val="6A6A6A"/>
                </a:solidFill>
                <a:latin typeface="Helvetica Neue" pitchFamily="34" charset="0"/>
                <a:ea typeface="Helvetica Neue" pitchFamily="34" charset="-122"/>
                <a:cs typeface="Helvetica Neue" pitchFamily="34" charset="-120"/>
              </a:rPr>
              <a:t>The bars tell the story. </a:t>
            </a:r>
            <a:r>
              <a:rPr lang="en-US" sz="1600" b="1" dirty="0">
                <a:solidFill>
                  <a:srgbClr val="1A1A1A"/>
                </a:solidFill>
                <a:latin typeface="Helvetica Neue" pitchFamily="34" charset="0"/>
                <a:ea typeface="Helvetica Neue" pitchFamily="34" charset="-122"/>
                <a:cs typeface="Helvetica Neue" pitchFamily="34" charset="-120"/>
              </a:rPr>
              <a:t>SPY's stress bar towers over its calm bar</a:t>
            </a:r>
            <a:r>
              <a:rPr lang="en-US" sz="1600" dirty="0">
                <a:solidFill>
                  <a:srgbClr val="6A6A6A"/>
                </a:solidFill>
                <a:latin typeface="Helvetica Neue" pitchFamily="34" charset="0"/>
                <a:ea typeface="Helvetica Neue" pitchFamily="34" charset="-122"/>
                <a:cs typeface="Helvetica Neue" pitchFamily="34" charset="-120"/>
              </a:rPr>
              <a:t>; Gold's barely moves; Bitcoin is just permanently elevated. Defensiveness shows up as a small gap, not a low absolute level.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Findings 3 of 3">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KEY FINDINGS FROM DATA ANALYSIS · 3 OF 3</a:t>
            </a:r>
            <a:endParaRPr lang="en-US" sz="1800" dirty="0"/>
          </a:p>
        </p:txBody>
      </p:sp>
      <p:sp>
        <p:nvSpPr>
          <p:cNvPr id="3" name="title"/>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Event studies: did Gold actually protect capital?</a:t>
            </a:r>
            <a:endParaRPr lang="en-US" sz="4500" dirty="0"/>
          </a:p>
        </p:txBody>
      </p:sp>
      <p:sp>
        <p:nvSpPr>
          <p:cNvPr id="4" name="e0"/>
          <p:cNvSpPr/>
          <p:nvPr/>
        </p:nvSpPr>
        <p:spPr>
          <a:xfrm>
            <a:off x="1143000" y="2377380"/>
            <a:ext cx="5400000" cy="380000"/>
          </a:xfrm>
          <a:prstGeom prst="rect">
            <a:avLst/>
          </a:prstGeom>
          <a:noFill/>
          <a:ln/>
        </p:spPr>
        <p:txBody>
          <a:bodyPr wrap="square" lIns="25400" tIns="25400" rIns="25400" bIns="25400" rtlCol="0" anchor="t">
            <a:normAutofit/>
          </a:bodyPr>
          <a:lstStyle/>
          <a:p>
            <a:pPr marL="0" indent="0" algn="l">
              <a:lnSpc>
                <a:spcPct val="140000"/>
              </a:lnSpc>
              <a:buNone/>
            </a:pPr>
            <a:r>
              <a:rPr lang="en-US" sz="1400" kern="0" spc="240" dirty="0">
                <a:solidFill>
                  <a:srgbClr val="9A6B1F"/>
                </a:solidFill>
                <a:latin typeface="SFMono-Regular" pitchFamily="34" charset="0"/>
                <a:ea typeface="SFMono-Regular" pitchFamily="34" charset="-122"/>
                <a:cs typeface="SFMono-Regular" pitchFamily="34" charset="-120"/>
              </a:rPr>
              <a:t>EVENT 1 · COVID CRASH</a:t>
            </a:r>
            <a:endParaRPr lang="en-US" sz="1400" dirty="0"/>
          </a:p>
        </p:txBody>
      </p:sp>
      <p:sp>
        <p:nvSpPr>
          <p:cNvPr id="5" name="t0"/>
          <p:cNvSpPr/>
          <p:nvPr/>
        </p:nvSpPr>
        <p:spPr>
          <a:xfrm>
            <a:off x="1143000" y="2857380"/>
            <a:ext cx="5400000" cy="480000"/>
          </a:xfrm>
          <a:prstGeom prst="rect">
            <a:avLst/>
          </a:prstGeom>
          <a:noFill/>
          <a:ln/>
        </p:spPr>
        <p:txBody>
          <a:bodyPr wrap="square" lIns="25400" tIns="25400" rIns="25400" bIns="25400" rtlCol="0" anchor="t">
            <a:normAutofit/>
          </a:bodyPr>
          <a:lstStyle/>
          <a:p>
            <a:pPr marL="0" indent="0" algn="l">
              <a:lnSpc>
                <a:spcPct val="130000"/>
              </a:lnSpc>
              <a:buNone/>
            </a:pPr>
            <a:r>
              <a:rPr lang="en-US" sz="2400" b="1" dirty="0">
                <a:solidFill>
                  <a:srgbClr val="1A1A1A"/>
                </a:solidFill>
                <a:latin typeface="Helvetica Neue" pitchFamily="34" charset="0"/>
                <a:ea typeface="Helvetica Neue" pitchFamily="34" charset="-122"/>
                <a:cs typeface="Helvetica Neue" pitchFamily="34" charset="-120"/>
              </a:rPr>
              <a:t>February – April 2020.</a:t>
            </a:r>
            <a:endParaRPr lang="en-US" sz="2400" dirty="0"/>
          </a:p>
        </p:txBody>
      </p:sp>
      <p:sp>
        <p:nvSpPr>
          <p:cNvPr id="6" name="d0"/>
          <p:cNvSpPr/>
          <p:nvPr/>
        </p:nvSpPr>
        <p:spPr>
          <a:xfrm>
            <a:off x="1143000" y="3357380"/>
            <a:ext cx="5400000" cy="22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Equities collapse on pandemic fear; central banks intervene at unprecedented speed. The textbook risk-off shock.</a:t>
            </a:r>
            <a:endParaRPr lang="en-US" sz="1700" dirty="0"/>
          </a:p>
        </p:txBody>
      </p:sp>
      <p:cxnSp>
        <p:nvCxnSpPr>
          <p:cNvPr id="7" name="line"/>
          <p:cNvCxnSpPr/>
          <p:nvPr/>
        </p:nvCxnSpPr>
        <p:spPr>
          <a:xfrm>
            <a:off x="1143000" y="5697380"/>
            <a:ext cx="52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8" name="a0-0"/>
          <p:cNvSpPr/>
          <p:nvPr/>
        </p:nvSpPr>
        <p:spPr>
          <a:xfrm>
            <a:off x="1143000" y="577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Gold</a:t>
            </a:r>
            <a:endParaRPr lang="en-US" sz="1800" dirty="0"/>
          </a:p>
        </p:txBody>
      </p:sp>
      <p:sp>
        <p:nvSpPr>
          <p:cNvPr id="9" name="v0-0"/>
          <p:cNvSpPr/>
          <p:nvPr/>
        </p:nvSpPr>
        <p:spPr>
          <a:xfrm>
            <a:off x="3543000" y="577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+6.4%</a:t>
            </a:r>
            <a:endParaRPr lang="en-US" sz="1800" dirty="0"/>
          </a:p>
        </p:txBody>
      </p:sp>
      <p:sp>
        <p:nvSpPr>
          <p:cNvPr id="10" name="a0-1"/>
          <p:cNvSpPr/>
          <p:nvPr/>
        </p:nvSpPr>
        <p:spPr>
          <a:xfrm>
            <a:off x="1143000" y="623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SPY</a:t>
            </a:r>
            <a:endParaRPr lang="en-US" sz="1800" dirty="0"/>
          </a:p>
        </p:txBody>
      </p:sp>
      <p:sp>
        <p:nvSpPr>
          <p:cNvPr id="11" name="v0-1"/>
          <p:cNvSpPr/>
          <p:nvPr/>
        </p:nvSpPr>
        <p:spPr>
          <a:xfrm>
            <a:off x="3543000" y="623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-14.4%</a:t>
            </a:r>
            <a:endParaRPr lang="en-US" sz="1800" dirty="0"/>
          </a:p>
        </p:txBody>
      </p:sp>
      <p:sp>
        <p:nvSpPr>
          <p:cNvPr id="12" name="a0-2"/>
          <p:cNvSpPr/>
          <p:nvPr/>
        </p:nvSpPr>
        <p:spPr>
          <a:xfrm>
            <a:off x="1143000" y="669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BTC</a:t>
            </a:r>
            <a:endParaRPr lang="en-US" sz="1800" dirty="0"/>
          </a:p>
        </p:txBody>
      </p:sp>
      <p:sp>
        <p:nvSpPr>
          <p:cNvPr id="13" name="v0-2"/>
          <p:cNvSpPr/>
          <p:nvPr/>
        </p:nvSpPr>
        <p:spPr>
          <a:xfrm>
            <a:off x="3543000" y="669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-17.5%</a:t>
            </a:r>
            <a:endParaRPr lang="en-US" sz="1800" dirty="0"/>
          </a:p>
        </p:txBody>
      </p:sp>
      <p:cxnSp>
        <p:nvCxnSpPr>
          <p:cNvPr id="14" name="line"/>
          <p:cNvCxnSpPr/>
          <p:nvPr/>
        </p:nvCxnSpPr>
        <p:spPr>
          <a:xfrm>
            <a:off x="1143000" y="7197380"/>
            <a:ext cx="52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5" name="vd0"/>
          <p:cNvSpPr/>
          <p:nvPr/>
        </p:nvSpPr>
        <p:spPr>
          <a:xfrm>
            <a:off x="1143000" y="7337380"/>
            <a:ext cx="5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1700" b="1" i="1" dirty="0">
                <a:solidFill>
                  <a:srgbClr val="9A6B1F"/>
                </a:solidFill>
                <a:latin typeface="Helvetica Neue" pitchFamily="34" charset="0"/>
                <a:ea typeface="Helvetica Neue" pitchFamily="34" charset="-122"/>
                <a:cs typeface="Helvetica Neue" pitchFamily="34" charset="-120"/>
              </a:rPr>
              <a:t>Gold protected — clearly.</a:t>
            </a:r>
            <a:endParaRPr lang="en-US" sz="1700" dirty="0"/>
          </a:p>
        </p:txBody>
      </p:sp>
      <p:sp>
        <p:nvSpPr>
          <p:cNvPr id="16" name="e1"/>
          <p:cNvSpPr/>
          <p:nvPr/>
        </p:nvSpPr>
        <p:spPr>
          <a:xfrm>
            <a:off x="6783000" y="2377380"/>
            <a:ext cx="5400000" cy="380000"/>
          </a:xfrm>
          <a:prstGeom prst="rect">
            <a:avLst/>
          </a:prstGeom>
          <a:noFill/>
          <a:ln/>
        </p:spPr>
        <p:txBody>
          <a:bodyPr wrap="square" lIns="25400" tIns="25400" rIns="25400" bIns="25400" rtlCol="0" anchor="t">
            <a:normAutofit/>
          </a:bodyPr>
          <a:lstStyle/>
          <a:p>
            <a:pPr marL="0" indent="0" algn="l">
              <a:lnSpc>
                <a:spcPct val="140000"/>
              </a:lnSpc>
              <a:buNone/>
            </a:pPr>
            <a:r>
              <a:rPr lang="en-US" sz="1400" kern="0" spc="240" dirty="0">
                <a:solidFill>
                  <a:srgbClr val="9A6B1F"/>
                </a:solidFill>
                <a:latin typeface="SFMono-Regular" pitchFamily="34" charset="0"/>
                <a:ea typeface="SFMono-Regular" pitchFamily="34" charset="-122"/>
                <a:cs typeface="SFMono-Regular" pitchFamily="34" charset="-120"/>
              </a:rPr>
              <a:t>EVENT 2 · INFLATION &amp; RATES</a:t>
            </a:r>
            <a:endParaRPr lang="en-US" sz="1400" dirty="0"/>
          </a:p>
        </p:txBody>
      </p:sp>
      <p:sp>
        <p:nvSpPr>
          <p:cNvPr id="17" name="t1"/>
          <p:cNvSpPr/>
          <p:nvPr/>
        </p:nvSpPr>
        <p:spPr>
          <a:xfrm>
            <a:off x="6783000" y="2857380"/>
            <a:ext cx="5400000" cy="480000"/>
          </a:xfrm>
          <a:prstGeom prst="rect">
            <a:avLst/>
          </a:prstGeom>
          <a:noFill/>
          <a:ln/>
        </p:spPr>
        <p:txBody>
          <a:bodyPr wrap="square" lIns="25400" tIns="25400" rIns="25400" bIns="25400" rtlCol="0" anchor="t">
            <a:normAutofit/>
          </a:bodyPr>
          <a:lstStyle/>
          <a:p>
            <a:pPr marL="0" indent="0" algn="l">
              <a:lnSpc>
                <a:spcPct val="130000"/>
              </a:lnSpc>
              <a:buNone/>
            </a:pPr>
            <a:r>
              <a:rPr lang="en-US" sz="2400" b="1" dirty="0">
                <a:solidFill>
                  <a:srgbClr val="1A1A1A"/>
                </a:solidFill>
                <a:latin typeface="Helvetica Neue" pitchFamily="34" charset="0"/>
                <a:ea typeface="Helvetica Neue" pitchFamily="34" charset="-122"/>
                <a:cs typeface="Helvetica Neue" pitchFamily="34" charset="-120"/>
              </a:rPr>
              <a:t>Jun – Oct 2022.</a:t>
            </a:r>
            <a:endParaRPr lang="en-US" sz="2400" dirty="0"/>
          </a:p>
        </p:txBody>
      </p:sp>
      <p:sp>
        <p:nvSpPr>
          <p:cNvPr id="18" name="d1"/>
          <p:cNvSpPr/>
          <p:nvPr/>
        </p:nvSpPr>
        <p:spPr>
          <a:xfrm>
            <a:off x="6783000" y="3357380"/>
            <a:ext cx="5400000" cy="22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Persistent CPI prints, aggressive Fed hikes, real rates rising fast. A non-classical stress regime where everything sells off together.</a:t>
            </a:r>
            <a:endParaRPr lang="en-US" sz="1700" dirty="0"/>
          </a:p>
        </p:txBody>
      </p:sp>
      <p:cxnSp>
        <p:nvCxnSpPr>
          <p:cNvPr id="19" name="line"/>
          <p:cNvCxnSpPr/>
          <p:nvPr/>
        </p:nvCxnSpPr>
        <p:spPr>
          <a:xfrm>
            <a:off x="6783000" y="5697380"/>
            <a:ext cx="52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20" name="a1-0"/>
          <p:cNvSpPr/>
          <p:nvPr/>
        </p:nvSpPr>
        <p:spPr>
          <a:xfrm>
            <a:off x="6783000" y="577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Gold</a:t>
            </a:r>
            <a:endParaRPr lang="en-US" sz="1800" dirty="0"/>
          </a:p>
        </p:txBody>
      </p:sp>
      <p:sp>
        <p:nvSpPr>
          <p:cNvPr id="21" name="v1-0"/>
          <p:cNvSpPr/>
          <p:nvPr/>
        </p:nvSpPr>
        <p:spPr>
          <a:xfrm>
            <a:off x="9183000" y="577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-11.9%</a:t>
            </a:r>
            <a:endParaRPr lang="en-US" sz="1800" dirty="0"/>
          </a:p>
        </p:txBody>
      </p:sp>
      <p:sp>
        <p:nvSpPr>
          <p:cNvPr id="22" name="a1-1"/>
          <p:cNvSpPr/>
          <p:nvPr/>
        </p:nvSpPr>
        <p:spPr>
          <a:xfrm>
            <a:off x="6783000" y="623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SPY</a:t>
            </a:r>
            <a:endParaRPr lang="en-US" sz="1800" dirty="0"/>
          </a:p>
        </p:txBody>
      </p:sp>
      <p:sp>
        <p:nvSpPr>
          <p:cNvPr id="23" name="v1-1"/>
          <p:cNvSpPr/>
          <p:nvPr/>
        </p:nvSpPr>
        <p:spPr>
          <a:xfrm>
            <a:off x="9183000" y="623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-5.9%</a:t>
            </a:r>
            <a:endParaRPr lang="en-US" sz="1800" dirty="0"/>
          </a:p>
        </p:txBody>
      </p:sp>
      <p:sp>
        <p:nvSpPr>
          <p:cNvPr id="24" name="a1-2"/>
          <p:cNvSpPr/>
          <p:nvPr/>
        </p:nvSpPr>
        <p:spPr>
          <a:xfrm>
            <a:off x="6783000" y="669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BTC</a:t>
            </a:r>
            <a:endParaRPr lang="en-US" sz="1800" dirty="0"/>
          </a:p>
        </p:txBody>
      </p:sp>
      <p:sp>
        <p:nvSpPr>
          <p:cNvPr id="25" name="v1-2"/>
          <p:cNvSpPr/>
          <p:nvPr/>
        </p:nvSpPr>
        <p:spPr>
          <a:xfrm>
            <a:off x="9183000" y="669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-43.9%</a:t>
            </a:r>
            <a:endParaRPr lang="en-US" sz="1800" dirty="0"/>
          </a:p>
        </p:txBody>
      </p:sp>
      <p:cxnSp>
        <p:nvCxnSpPr>
          <p:cNvPr id="26" name="line"/>
          <p:cNvCxnSpPr/>
          <p:nvPr/>
        </p:nvCxnSpPr>
        <p:spPr>
          <a:xfrm>
            <a:off x="6783000" y="7197380"/>
            <a:ext cx="52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27" name="vd1"/>
          <p:cNvSpPr/>
          <p:nvPr/>
        </p:nvSpPr>
        <p:spPr>
          <a:xfrm>
            <a:off x="6783000" y="7337380"/>
            <a:ext cx="5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1700" b="1" i="1" dirty="0">
                <a:solidFill>
                  <a:srgbClr val="1A1A1A"/>
                </a:solidFill>
                <a:latin typeface="Helvetica Neue" pitchFamily="34" charset="0"/>
                <a:ea typeface="Helvetica Neue" pitchFamily="34" charset="-122"/>
                <a:cs typeface="Helvetica Neue" pitchFamily="34" charset="-120"/>
              </a:rPr>
              <a:t>Gold disappointed.</a:t>
            </a:r>
            <a:endParaRPr lang="en-US" sz="1700" dirty="0"/>
          </a:p>
        </p:txBody>
      </p:sp>
      <p:sp>
        <p:nvSpPr>
          <p:cNvPr id="28" name="e2"/>
          <p:cNvSpPr/>
          <p:nvPr/>
        </p:nvSpPr>
        <p:spPr>
          <a:xfrm>
            <a:off x="12423000" y="2377380"/>
            <a:ext cx="5400000" cy="380000"/>
          </a:xfrm>
          <a:prstGeom prst="rect">
            <a:avLst/>
          </a:prstGeom>
          <a:noFill/>
          <a:ln/>
        </p:spPr>
        <p:txBody>
          <a:bodyPr wrap="square" lIns="25400" tIns="25400" rIns="25400" bIns="25400" rtlCol="0" anchor="t">
            <a:normAutofit/>
          </a:bodyPr>
          <a:lstStyle/>
          <a:p>
            <a:pPr marL="0" indent="0" algn="l">
              <a:lnSpc>
                <a:spcPct val="140000"/>
              </a:lnSpc>
              <a:buNone/>
            </a:pPr>
            <a:r>
              <a:rPr lang="en-US" sz="1400" kern="0" spc="240" dirty="0">
                <a:solidFill>
                  <a:srgbClr val="9A6B1F"/>
                </a:solidFill>
                <a:latin typeface="SFMono-Regular" pitchFamily="34" charset="0"/>
                <a:ea typeface="SFMono-Regular" pitchFamily="34" charset="-122"/>
                <a:cs typeface="SFMono-Regular" pitchFamily="34" charset="-120"/>
              </a:rPr>
              <a:t>EVENT 3 · BANKING STRESS</a:t>
            </a:r>
            <a:endParaRPr lang="en-US" sz="1400" dirty="0"/>
          </a:p>
        </p:txBody>
      </p:sp>
      <p:sp>
        <p:nvSpPr>
          <p:cNvPr id="29" name="t2"/>
          <p:cNvSpPr/>
          <p:nvPr/>
        </p:nvSpPr>
        <p:spPr>
          <a:xfrm>
            <a:off x="12423000" y="2857380"/>
            <a:ext cx="5400000" cy="480000"/>
          </a:xfrm>
          <a:prstGeom prst="rect">
            <a:avLst/>
          </a:prstGeom>
          <a:noFill/>
          <a:ln/>
        </p:spPr>
        <p:txBody>
          <a:bodyPr wrap="square" lIns="25400" tIns="25400" rIns="25400" bIns="25400" rtlCol="0" anchor="t">
            <a:normAutofit/>
          </a:bodyPr>
          <a:lstStyle/>
          <a:p>
            <a:pPr marL="0" indent="0" algn="l">
              <a:lnSpc>
                <a:spcPct val="130000"/>
              </a:lnSpc>
              <a:buNone/>
            </a:pPr>
            <a:r>
              <a:rPr lang="en-US" sz="2400" b="1" dirty="0">
                <a:solidFill>
                  <a:srgbClr val="1A1A1A"/>
                </a:solidFill>
                <a:latin typeface="Helvetica Neue" pitchFamily="34" charset="0"/>
                <a:ea typeface="Helvetica Neue" pitchFamily="34" charset="-122"/>
                <a:cs typeface="Helvetica Neue" pitchFamily="34" charset="-120"/>
              </a:rPr>
              <a:t>March – April 2023.</a:t>
            </a:r>
            <a:endParaRPr lang="en-US" sz="2400" dirty="0"/>
          </a:p>
        </p:txBody>
      </p:sp>
      <p:sp>
        <p:nvSpPr>
          <p:cNvPr id="30" name="d2"/>
          <p:cNvSpPr/>
          <p:nvPr/>
        </p:nvSpPr>
        <p:spPr>
          <a:xfrm>
            <a:off x="12423000" y="3357380"/>
            <a:ext cx="5400000" cy="22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SVB and Credit Suisse fail; flight-to-quality drives a sharp but contained risk-off episode in credit markets.</a:t>
            </a:r>
            <a:endParaRPr lang="en-US" sz="1700" dirty="0"/>
          </a:p>
        </p:txBody>
      </p:sp>
      <p:cxnSp>
        <p:nvCxnSpPr>
          <p:cNvPr id="31" name="line"/>
          <p:cNvCxnSpPr/>
          <p:nvPr/>
        </p:nvCxnSpPr>
        <p:spPr>
          <a:xfrm>
            <a:off x="12423000" y="5697380"/>
            <a:ext cx="52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32" name="a2-0"/>
          <p:cNvSpPr/>
          <p:nvPr/>
        </p:nvSpPr>
        <p:spPr>
          <a:xfrm>
            <a:off x="12423000" y="577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Gold</a:t>
            </a:r>
            <a:endParaRPr lang="en-US" sz="1800" dirty="0"/>
          </a:p>
        </p:txBody>
      </p:sp>
      <p:sp>
        <p:nvSpPr>
          <p:cNvPr id="33" name="v2-0"/>
          <p:cNvSpPr/>
          <p:nvPr/>
        </p:nvSpPr>
        <p:spPr>
          <a:xfrm>
            <a:off x="14823000" y="577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+8.5%</a:t>
            </a:r>
            <a:endParaRPr lang="en-US" sz="1800" dirty="0"/>
          </a:p>
        </p:txBody>
      </p:sp>
      <p:sp>
        <p:nvSpPr>
          <p:cNvPr id="34" name="a2-1"/>
          <p:cNvSpPr/>
          <p:nvPr/>
        </p:nvSpPr>
        <p:spPr>
          <a:xfrm>
            <a:off x="12423000" y="623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SPY</a:t>
            </a:r>
            <a:endParaRPr lang="en-US" sz="1800" dirty="0"/>
          </a:p>
        </p:txBody>
      </p:sp>
      <p:sp>
        <p:nvSpPr>
          <p:cNvPr id="35" name="v2-1"/>
          <p:cNvSpPr/>
          <p:nvPr/>
        </p:nvSpPr>
        <p:spPr>
          <a:xfrm>
            <a:off x="14823000" y="623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+5.2%</a:t>
            </a:r>
            <a:endParaRPr lang="en-US" sz="1800" dirty="0"/>
          </a:p>
        </p:txBody>
      </p:sp>
      <p:sp>
        <p:nvSpPr>
          <p:cNvPr id="36" name="a2-2"/>
          <p:cNvSpPr/>
          <p:nvPr/>
        </p:nvSpPr>
        <p:spPr>
          <a:xfrm>
            <a:off x="12423000" y="6697380"/>
            <a:ext cx="22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6A6A6A"/>
                </a:solidFill>
                <a:latin typeface="Helvetica Neue" pitchFamily="34" charset="0"/>
                <a:ea typeface="Helvetica Neue" pitchFamily="34" charset="-122"/>
                <a:cs typeface="Helvetica Neue" pitchFamily="34" charset="-120"/>
              </a:rPr>
              <a:t>BTC</a:t>
            </a:r>
            <a:endParaRPr lang="en-US" sz="1800" dirty="0"/>
          </a:p>
        </p:txBody>
      </p:sp>
      <p:sp>
        <p:nvSpPr>
          <p:cNvPr id="37" name="v2-2"/>
          <p:cNvSpPr/>
          <p:nvPr/>
        </p:nvSpPr>
        <p:spPr>
          <a:xfrm>
            <a:off x="14823000" y="6697380"/>
            <a:ext cx="28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800" b="1" dirty="0">
                <a:solidFill>
                  <a:srgbClr val="6A6A6A"/>
                </a:solidFill>
                <a:latin typeface="Helvetica Neue" pitchFamily="34" charset="0"/>
                <a:ea typeface="Helvetica Neue" pitchFamily="34" charset="-122"/>
                <a:cs typeface="Helvetica Neue" pitchFamily="34" charset="-120"/>
              </a:rPr>
              <a:t>+23.5%</a:t>
            </a:r>
            <a:endParaRPr lang="en-US" sz="1800" dirty="0"/>
          </a:p>
        </p:txBody>
      </p:sp>
      <p:cxnSp>
        <p:nvCxnSpPr>
          <p:cNvPr id="38" name="line"/>
          <p:cNvCxnSpPr/>
          <p:nvPr/>
        </p:nvCxnSpPr>
        <p:spPr>
          <a:xfrm>
            <a:off x="12423000" y="7197380"/>
            <a:ext cx="52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39" name="vd2"/>
          <p:cNvSpPr/>
          <p:nvPr/>
        </p:nvSpPr>
        <p:spPr>
          <a:xfrm>
            <a:off x="12423000" y="7337380"/>
            <a:ext cx="5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1700" b="1" i="1" dirty="0">
                <a:solidFill>
                  <a:srgbClr val="1A1A1A"/>
                </a:solidFill>
                <a:latin typeface="Helvetica Neue" pitchFamily="34" charset="0"/>
                <a:ea typeface="Helvetica Neue" pitchFamily="34" charset="-122"/>
                <a:cs typeface="Helvetica Neue" pitchFamily="34" charset="-120"/>
              </a:rPr>
              <a:t>Gold rose, but BTC won.</a:t>
            </a:r>
            <a:endParaRPr lang="en-US" sz="1700" dirty="0"/>
          </a:p>
        </p:txBody>
      </p:sp>
      <p:sp>
        <p:nvSpPr>
          <p:cNvPr id="40" name="synth"/>
          <p:cNvSpPr/>
          <p:nvPr/>
        </p:nvSpPr>
        <p:spPr>
          <a:xfrm>
            <a:off x="1143000" y="8500000"/>
            <a:ext cx="16482060" cy="60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The takeaway: Gold is a </a:t>
            </a:r>
            <a:r>
              <a:rPr lang="en-US" sz="1700" b="1" i="1" dirty="0">
                <a:solidFill>
                  <a:srgbClr val="1A1A1A"/>
                </a:solidFill>
                <a:latin typeface="Helvetica Neue" pitchFamily="34" charset="0"/>
                <a:ea typeface="Helvetica Neue" pitchFamily="34" charset="-122"/>
                <a:cs typeface="Helvetica Neue" pitchFamily="34" charset="-120"/>
              </a:rPr>
              <a:t>conditional</a:t>
            </a:r>
            <a:r>
              <a:rPr lang="en-US" sz="1700" dirty="0">
                <a:solidFill>
                  <a:srgbClr val="6A6A6A"/>
                </a:solidFill>
                <a:latin typeface="Helvetica Neue" pitchFamily="34" charset="0"/>
                <a:ea typeface="Helvetica Neue" pitchFamily="34" charset="-122"/>
                <a:cs typeface="Helvetica Neue" pitchFamily="34" charset="-120"/>
              </a:rPr>
              <a:t> safe haven — strong in liquidity-driven panics, weak when stress is driven by rising real rates.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Modeling pipelin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MODELS EXPLORED</a:t>
            </a:r>
            <a:endParaRPr lang="en-US" sz="1800" dirty="0"/>
          </a:p>
        </p:txBody>
      </p:sp>
      <p:sp>
        <p:nvSpPr>
          <p:cNvPr id="3" name="title"/>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Modeling pipeline: from baselines to XGBoost.</a:t>
            </a:r>
            <a:endParaRPr lang="en-US" sz="4500" dirty="0"/>
          </a:p>
        </p:txBody>
      </p:sp>
      <p:sp>
        <p:nvSpPr>
          <p:cNvPr id="4" name="leyebrow"/>
          <p:cNvSpPr/>
          <p:nvPr/>
        </p:nvSpPr>
        <p:spPr>
          <a:xfrm>
            <a:off x="1143000" y="2350000"/>
            <a:ext cx="7000000" cy="358080"/>
          </a:xfrm>
          <a:prstGeom prst="rect">
            <a:avLst/>
          </a:prstGeom>
          <a:noFill/>
          <a:ln/>
        </p:spPr>
        <p:txBody>
          <a:bodyPr wrap="square" lIns="25400" tIns="25400" rIns="25400" bIns="25400" rtlCol="0" anchor="t">
            <a:normAutofit/>
          </a:bodyPr>
          <a:lstStyle/>
          <a:p>
            <a:pPr marL="0" indent="0" algn="l">
              <a:lnSpc>
                <a:spcPct val="140000"/>
              </a:lnSpc>
              <a:buNone/>
            </a:pPr>
            <a:r>
              <a:rPr lang="en-US" sz="1500" kern="0" spc="240" dirty="0">
                <a:solidFill>
                  <a:srgbClr val="9A6B1F"/>
                </a:solidFill>
                <a:latin typeface="SFMono-Regular" pitchFamily="34" charset="0"/>
                <a:ea typeface="SFMono-Regular" pitchFamily="34" charset="-122"/>
                <a:cs typeface="SFMono-Regular" pitchFamily="34" charset="-120"/>
              </a:rPr>
              <a:t>MILESTONE 1 · LINEAR BASELINES</a:t>
            </a:r>
            <a:endParaRPr lang="en-US" sz="1500" dirty="0"/>
          </a:p>
        </p:txBody>
      </p:sp>
      <p:sp>
        <p:nvSpPr>
          <p:cNvPr id="5" name="lh1"/>
          <p:cNvSpPr/>
          <p:nvPr/>
        </p:nvSpPr>
        <p:spPr>
          <a:xfrm>
            <a:off x="1300000" y="2780000"/>
            <a:ext cx="7000000" cy="38000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Ridge regression.</a:t>
            </a:r>
            <a:endParaRPr lang="en-US" sz="1800" dirty="0"/>
          </a:p>
        </p:txBody>
      </p:sp>
      <p:sp>
        <p:nvSpPr>
          <p:cNvPr id="6" name="lb1"/>
          <p:cNvSpPr/>
          <p:nvPr/>
        </p:nvSpPr>
        <p:spPr>
          <a:xfrm>
            <a:off x="1300000" y="3160000"/>
            <a:ext cx="7000000" cy="85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Used for short-horizon Gold return predictions and 5-day SPY volatility forecasting.</a:t>
            </a:r>
            <a:endParaRPr lang="en-US" sz="1700" dirty="0"/>
          </a:p>
        </p:txBody>
      </p:sp>
      <p:sp>
        <p:nvSpPr>
          <p:cNvPr id="7" name="lh2"/>
          <p:cNvSpPr/>
          <p:nvPr/>
        </p:nvSpPr>
        <p:spPr>
          <a:xfrm>
            <a:off x="1300000" y="4030000"/>
            <a:ext cx="7000000" cy="38000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Persistence baselines.</a:t>
            </a:r>
            <a:endParaRPr lang="en-US" sz="1800" dirty="0"/>
          </a:p>
        </p:txBody>
      </p:sp>
      <p:sp>
        <p:nvSpPr>
          <p:cNvPr id="8" name="lb2"/>
          <p:cNvSpPr/>
          <p:nvPr/>
        </p:nvSpPr>
        <p:spPr>
          <a:xfrm>
            <a:off x="1300000" y="4410000"/>
            <a:ext cx="7000000" cy="85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Naive forecasting to establish a "floor" for model performance.</a:t>
            </a:r>
            <a:endParaRPr lang="en-US" sz="1700" dirty="0"/>
          </a:p>
        </p:txBody>
      </p:sp>
      <p:sp>
        <p:nvSpPr>
          <p:cNvPr id="9" name="reyebrow"/>
          <p:cNvSpPr/>
          <p:nvPr/>
        </p:nvSpPr>
        <p:spPr>
          <a:xfrm>
            <a:off x="9300000" y="2350000"/>
            <a:ext cx="8000000" cy="358080"/>
          </a:xfrm>
          <a:prstGeom prst="rect">
            <a:avLst/>
          </a:prstGeom>
          <a:noFill/>
          <a:ln/>
        </p:spPr>
        <p:txBody>
          <a:bodyPr wrap="square" lIns="25400" tIns="25400" rIns="25400" bIns="25400" rtlCol="0" anchor="t">
            <a:normAutofit/>
          </a:bodyPr>
          <a:lstStyle/>
          <a:p>
            <a:pPr marL="0" indent="0" algn="l">
              <a:lnSpc>
                <a:spcPct val="140000"/>
              </a:lnSpc>
              <a:buNone/>
            </a:pPr>
            <a:r>
              <a:rPr lang="en-US" sz="1500" kern="0" spc="240" dirty="0">
                <a:solidFill>
                  <a:srgbClr val="9A6B1F"/>
                </a:solidFill>
                <a:latin typeface="SFMono-Regular" pitchFamily="34" charset="0"/>
                <a:ea typeface="SFMono-Regular" pitchFamily="34" charset="-122"/>
                <a:cs typeface="SFMono-Regular" pitchFamily="34" charset="-120"/>
              </a:rPr>
              <a:t>MILESTONE 2 · NON-LINEAR &amp; CLASSIFICATION UPGRADES</a:t>
            </a:r>
            <a:endParaRPr lang="en-US" sz="1500" dirty="0"/>
          </a:p>
        </p:txBody>
      </p:sp>
      <p:sp>
        <p:nvSpPr>
          <p:cNvPr id="10" name="rh0"/>
          <p:cNvSpPr/>
          <p:nvPr/>
        </p:nvSpPr>
        <p:spPr>
          <a:xfrm>
            <a:off x="9450000" y="2780000"/>
            <a:ext cx="8000000" cy="38000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Logistic regression.</a:t>
            </a:r>
            <a:endParaRPr lang="en-US" sz="1800" dirty="0"/>
          </a:p>
        </p:txBody>
      </p:sp>
      <p:sp>
        <p:nvSpPr>
          <p:cNvPr id="11" name="rb0"/>
          <p:cNvSpPr/>
          <p:nvPr/>
        </p:nvSpPr>
        <p:spPr>
          <a:xfrm>
            <a:off x="9450000" y="3160000"/>
            <a:ext cx="8000000" cy="85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Added as a baseline for classification tasks.</a:t>
            </a:r>
            <a:endParaRPr lang="en-US" sz="1700" dirty="0"/>
          </a:p>
        </p:txBody>
      </p:sp>
      <p:sp>
        <p:nvSpPr>
          <p:cNvPr id="12" name="rh1"/>
          <p:cNvSpPr/>
          <p:nvPr/>
        </p:nvSpPr>
        <p:spPr>
          <a:xfrm>
            <a:off x="9450000" y="4020000"/>
            <a:ext cx="8000000" cy="38000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XGBoost — safe-haven classifier.</a:t>
            </a:r>
            <a:endParaRPr lang="en-US" sz="1800" dirty="0"/>
          </a:p>
        </p:txBody>
      </p:sp>
      <p:sp>
        <p:nvSpPr>
          <p:cNvPr id="13" name="rb1"/>
          <p:cNvSpPr/>
          <p:nvPr/>
        </p:nvSpPr>
        <p:spPr>
          <a:xfrm>
            <a:off x="9450000" y="4400000"/>
            <a:ext cx="8000000" cy="85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Predicting if Gold will outperform SPY the next day.</a:t>
            </a:r>
            <a:endParaRPr lang="en-US" sz="1700" dirty="0"/>
          </a:p>
        </p:txBody>
      </p:sp>
      <p:sp>
        <p:nvSpPr>
          <p:cNvPr id="14" name="rh2"/>
          <p:cNvSpPr/>
          <p:nvPr/>
        </p:nvSpPr>
        <p:spPr>
          <a:xfrm>
            <a:off x="9450000" y="5260000"/>
            <a:ext cx="8000000" cy="38000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XGBoost — multi-asset volatility.</a:t>
            </a:r>
            <a:endParaRPr lang="en-US" sz="1800" dirty="0"/>
          </a:p>
        </p:txBody>
      </p:sp>
      <p:sp>
        <p:nvSpPr>
          <p:cNvPr id="15" name="rb2"/>
          <p:cNvSpPr/>
          <p:nvPr/>
        </p:nvSpPr>
        <p:spPr>
          <a:xfrm>
            <a:off x="9450000" y="5640000"/>
            <a:ext cx="8000000" cy="85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Forecasting SPY, Bitcoin, and VIX volatility at 1-day and 5-day horizons.</a:t>
            </a:r>
            <a:endParaRPr lang="en-US" sz="1700" dirty="0"/>
          </a:p>
        </p:txBody>
      </p:sp>
      <p:sp>
        <p:nvSpPr>
          <p:cNvPr id="16" name="rh3"/>
          <p:cNvSpPr/>
          <p:nvPr/>
        </p:nvSpPr>
        <p:spPr>
          <a:xfrm>
            <a:off x="9450000" y="6500000"/>
            <a:ext cx="8000000" cy="38000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1A1A1A"/>
                </a:solidFill>
                <a:latin typeface="Helvetica Neue" pitchFamily="34" charset="0"/>
                <a:ea typeface="Helvetica Neue" pitchFamily="34" charset="-122"/>
                <a:cs typeface="Helvetica Neue" pitchFamily="34" charset="-120"/>
              </a:rPr>
              <a:t>XGBoost — stress-regime classifier.</a:t>
            </a:r>
            <a:endParaRPr lang="en-US" sz="1800" dirty="0"/>
          </a:p>
        </p:txBody>
      </p:sp>
      <p:sp>
        <p:nvSpPr>
          <p:cNvPr id="17" name="rb3"/>
          <p:cNvSpPr/>
          <p:nvPr/>
        </p:nvSpPr>
        <p:spPr>
          <a:xfrm>
            <a:off x="9450000" y="6880000"/>
            <a:ext cx="8000000" cy="85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Predicting high macro-stress conditions one week ahead.</a:t>
            </a:r>
            <a:endParaRPr lang="en-US" sz="1700" dirty="0"/>
          </a:p>
        </p:txBody>
      </p:sp>
      <p:sp>
        <p:nvSpPr>
          <p:cNvPr id="18" name="chartlabel"/>
          <p:cNvSpPr/>
          <p:nvPr/>
        </p:nvSpPr>
        <p:spPr>
          <a:xfrm>
            <a:off x="1143000" y="702000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400" kern="0" spc="240" dirty="0">
                <a:solidFill>
                  <a:srgbClr val="6A6A6A"/>
                </a:solidFill>
                <a:latin typeface="SFMono-Regular" pitchFamily="34" charset="0"/>
                <a:ea typeface="SFMono-Regular" pitchFamily="34" charset="-122"/>
                <a:cs typeface="SFMono-Regular" pitchFamily="34" charset="-120"/>
              </a:rPr>
              <a:t>HEAD-TO-HEAD · SAFE-HAVEN CLASSIFIER (ROC-AUC)</a:t>
            </a:r>
            <a:endParaRPr lang="en-US" sz="1400" dirty="0"/>
          </a:p>
        </p:txBody>
      </p:sp>
      <p:cxnSp>
        <p:nvCxnSpPr>
          <p:cNvPr id="19" name="line"/>
          <p:cNvCxnSpPr/>
          <p:nvPr/>
        </p:nvCxnSpPr>
        <p:spPr>
          <a:xfrm>
            <a:off x="1143000" y="7360000"/>
            <a:ext cx="1648206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pic>
        <p:nvPicPr>
          <p:cNvPr id="20" name="Chart_models"/>
          <p:cNvPicPr>
            <a:picLocks noChangeAspect="1"/>
          </p:cNvPicPr>
          <p:nvPr/>
        </p:nvPicPr>
        <p:blipFill>
          <a:blip r:embed="rId3"/>
          <a:stretch>
            <a:fillRect/>
          </a:stretch>
        </p:blipFill>
        <p:spPr>
          <a:xfrm>
            <a:off x="1143000" y="7500000"/>
            <a:ext cx="8500000" cy="2500000"/>
          </a:xfrm>
          <a:prstGeom prst="rect">
            <a:avLst/>
          </a:prstGeom>
        </p:spPr>
      </p:pic>
      <p:sp>
        <p:nvSpPr>
          <p:cNvPr id="21" name="ccap"/>
          <p:cNvSpPr/>
          <p:nvPr/>
        </p:nvSpPr>
        <p:spPr>
          <a:xfrm>
            <a:off x="10000000" y="7700000"/>
            <a:ext cx="7400000" cy="19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Each step up the ladder helps. </a:t>
            </a:r>
            <a:r>
              <a:rPr lang="en-US" sz="1700" b="1" dirty="0">
                <a:solidFill>
                  <a:srgbClr val="1A1A1A"/>
                </a:solidFill>
                <a:latin typeface="Helvetica Neue" pitchFamily="34" charset="0"/>
                <a:ea typeface="Helvetica Neue" pitchFamily="34" charset="-122"/>
                <a:cs typeface="Helvetica Neue" pitchFamily="34" charset="-120"/>
              </a:rPr>
              <a:t>Naive baselines hover at chance</a:t>
            </a:r>
            <a:r>
              <a:rPr lang="en-US" sz="1700" dirty="0">
                <a:solidFill>
                  <a:srgbClr val="6A6A6A"/>
                </a:solidFill>
                <a:latin typeface="Helvetica Neue" pitchFamily="34" charset="0"/>
                <a:ea typeface="Helvetica Neue" pitchFamily="34" charset="-122"/>
                <a:cs typeface="Helvetica Neue" pitchFamily="34" charset="-120"/>
              </a:rPr>
              <a:t>. Logistic regression starts using the macro signals (~0.61). </a:t>
            </a:r>
            <a:r>
              <a:rPr lang="en-US" sz="1700" b="1" dirty="0">
                <a:solidFill>
                  <a:srgbClr val="9A6B1F"/>
                </a:solidFill>
                <a:latin typeface="Helvetica Neue" pitchFamily="34" charset="0"/>
                <a:ea typeface="Helvetica Neue" pitchFamily="34" charset="-122"/>
                <a:cs typeface="Helvetica Neue" pitchFamily="34" charset="-120"/>
              </a:rPr>
              <a:t>XGBoost reaches 0.68</a:t>
            </a:r>
            <a:r>
              <a:rPr lang="en-US" sz="1700" dirty="0">
                <a:solidFill>
                  <a:srgbClr val="6A6A6A"/>
                </a:solidFill>
                <a:latin typeface="Helvetica Neue" pitchFamily="34" charset="0"/>
                <a:ea typeface="Helvetica Neue" pitchFamily="34" charset="-122"/>
                <a:cs typeface="Helvetica Neue" pitchFamily="34" charset="-120"/>
              </a:rPr>
              <a:t> — a clear, repeatable lift over chance and over the simple VIX rule.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afe-haven classifier">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SAFE-HAVEN CLASSIFIER</a:t>
            </a:r>
            <a:endParaRPr lang="en-US" sz="1800" dirty="0"/>
          </a:p>
        </p:txBody>
      </p:sp>
      <p:sp>
        <p:nvSpPr>
          <p:cNvPr id="3" name="title"/>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Can we predict when Gold beats SPY?</a:t>
            </a:r>
            <a:endParaRPr lang="en-US" sz="4500" dirty="0"/>
          </a:p>
        </p:txBody>
      </p:sp>
      <p:sp>
        <p:nvSpPr>
          <p:cNvPr id="4" name="lh"/>
          <p:cNvSpPr/>
          <p:nvPr/>
        </p:nvSpPr>
        <p:spPr>
          <a:xfrm>
            <a:off x="1143000" y="2377380"/>
            <a:ext cx="84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What we're predicting.</a:t>
            </a:r>
            <a:endParaRPr lang="en-US" sz="2400" dirty="0"/>
          </a:p>
        </p:txBody>
      </p:sp>
      <p:sp>
        <p:nvSpPr>
          <p:cNvPr id="5" name="lb1"/>
          <p:cNvSpPr/>
          <p:nvPr/>
        </p:nvSpPr>
        <p:spPr>
          <a:xfrm>
            <a:off x="1143000" y="2861221"/>
            <a:ext cx="8400000" cy="2400000"/>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6A6A6A"/>
                </a:solidFill>
                <a:latin typeface="Helvetica Neue" pitchFamily="34" charset="0"/>
                <a:ea typeface="Helvetica Neue" pitchFamily="34" charset="-122"/>
                <a:cs typeface="Helvetica Neue" pitchFamily="34" charset="-120"/>
              </a:rPr>
              <a:t>A simple yes/no question every day: </a:t>
            </a:r>
            <a:r>
              <a:rPr lang="en-US" sz="2000" b="1" dirty="0">
                <a:solidFill>
                  <a:srgbClr val="1A1A1A"/>
                </a:solidFill>
                <a:latin typeface="Helvetica Neue" pitchFamily="34" charset="0"/>
                <a:ea typeface="Helvetica Neue" pitchFamily="34" charset="-122"/>
                <a:cs typeface="Helvetica Neue" pitchFamily="34" charset="-120"/>
              </a:rPr>
              <a:t>will Gold's return tomorrow be higher than SPY's?</a:t>
            </a:r>
            <a:r>
              <a:rPr lang="en-US" sz="2000" dirty="0">
                <a:solidFill>
                  <a:srgbClr val="6A6A6A"/>
                </a:solidFill>
                <a:latin typeface="Helvetica Neue" pitchFamily="34" charset="0"/>
                <a:ea typeface="Helvetica Neue" pitchFamily="34" charset="-122"/>
                <a:cs typeface="Helvetica Neue" pitchFamily="34" charset="-120"/>
              </a:rPr>
              <a:t> The model sees today's macro picture — VIX, credit spreads, drawdowns, recent volatility — and tries to call the next-day winner.</a:t>
            </a:r>
            <a:endParaRPr lang="en-US" sz="2000" dirty="0"/>
          </a:p>
        </p:txBody>
      </p:sp>
      <p:sp>
        <p:nvSpPr>
          <p:cNvPr id="6" name="lh2"/>
          <p:cNvSpPr/>
          <p:nvPr/>
        </p:nvSpPr>
        <p:spPr>
          <a:xfrm>
            <a:off x="1143000" y="5350000"/>
            <a:ext cx="84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What XGBoost found.</a:t>
            </a:r>
            <a:endParaRPr lang="en-US" sz="2400" dirty="0"/>
          </a:p>
        </p:txBody>
      </p:sp>
      <p:sp>
        <p:nvSpPr>
          <p:cNvPr id="7" name="lb2"/>
          <p:cNvSpPr/>
          <p:nvPr/>
        </p:nvSpPr>
        <p:spPr>
          <a:xfrm>
            <a:off x="1143000" y="5834000"/>
            <a:ext cx="8400000" cy="3000000"/>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6A6A6A"/>
                </a:solidFill>
                <a:latin typeface="Helvetica Neue" pitchFamily="34" charset="0"/>
                <a:ea typeface="Helvetica Neue" pitchFamily="34" charset="-122"/>
                <a:cs typeface="Helvetica Neue" pitchFamily="34" charset="-120"/>
              </a:rPr>
              <a:t>ROC-AUC of </a:t>
            </a:r>
            <a:r>
              <a:rPr lang="en-US" sz="2000" b="1" dirty="0">
                <a:solidFill>
                  <a:srgbClr val="9A6B1F"/>
                </a:solidFill>
                <a:latin typeface="Helvetica Neue" pitchFamily="34" charset="0"/>
                <a:ea typeface="Helvetica Neue" pitchFamily="34" charset="-122"/>
                <a:cs typeface="Helvetica Neue" pitchFamily="34" charset="-120"/>
              </a:rPr>
              <a:t>0.6835</a:t>
            </a:r>
            <a:r>
              <a:rPr lang="en-US" sz="2000" dirty="0">
                <a:solidFill>
                  <a:srgbClr val="6A6A6A"/>
                </a:solidFill>
                <a:latin typeface="Helvetica Neue" pitchFamily="34" charset="0"/>
                <a:ea typeface="Helvetica Neue" pitchFamily="34" charset="-122"/>
                <a:cs typeface="Helvetica Neue" pitchFamily="34" charset="-120"/>
              </a:rPr>
              <a:t> — clearly above the 0.50 random line and above both naive baselines. The features doing the heavy lifting are </a:t>
            </a:r>
            <a:r>
              <a:rPr lang="en-US" sz="2000" b="1" dirty="0">
                <a:solidFill>
                  <a:srgbClr val="1A1A1A"/>
                </a:solidFill>
                <a:latin typeface="Helvetica Neue" pitchFamily="34" charset="0"/>
                <a:ea typeface="Helvetica Neue" pitchFamily="34" charset="-122"/>
                <a:cs typeface="Helvetica Neue" pitchFamily="34" charset="-120"/>
              </a:rPr>
              <a:t>drawdown, recent SPY volatility, and the high-yield credit spread</a:t>
            </a:r>
            <a:r>
              <a:rPr lang="en-US" sz="2000" dirty="0">
                <a:solidFill>
                  <a:srgbClr val="6A6A6A"/>
                </a:solidFill>
                <a:latin typeface="Helvetica Neue" pitchFamily="34" charset="0"/>
                <a:ea typeface="Helvetica Neue" pitchFamily="34" charset="-122"/>
                <a:cs typeface="Helvetica Neue" pitchFamily="34" charset="-120"/>
              </a:rPr>
              <a:t> — exactly the macro-stress signals we expected to matter.</a:t>
            </a:r>
            <a:endParaRPr lang="en-US" sz="2000" dirty="0"/>
          </a:p>
        </p:txBody>
      </p:sp>
      <p:sp>
        <p:nvSpPr>
          <p:cNvPr id="8" name="rh"/>
          <p:cNvSpPr/>
          <p:nvPr/>
        </p:nvSpPr>
        <p:spPr>
          <a:xfrm>
            <a:off x="10300000" y="2377380"/>
            <a:ext cx="68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2000" b="1" dirty="0">
                <a:solidFill>
                  <a:srgbClr val="1A1A1A"/>
                </a:solidFill>
                <a:latin typeface="Helvetica Neue" pitchFamily="34" charset="0"/>
                <a:ea typeface="Helvetica Neue" pitchFamily="34" charset="-122"/>
                <a:cs typeface="Helvetica Neue" pitchFamily="34" charset="-120"/>
              </a:rPr>
              <a:t>Test-set performance</a:t>
            </a:r>
            <a:endParaRPr lang="en-US" sz="2000" dirty="0"/>
          </a:p>
        </p:txBody>
      </p:sp>
      <p:cxnSp>
        <p:nvCxnSpPr>
          <p:cNvPr id="9" name="line"/>
          <p:cNvCxnSpPr/>
          <p:nvPr/>
        </p:nvCxnSpPr>
        <p:spPr>
          <a:xfrm>
            <a:off x="10300000" y="2932000"/>
            <a:ext cx="68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0" name="mt0-0"/>
          <p:cNvSpPr/>
          <p:nvPr/>
        </p:nvSpPr>
        <p:spPr>
          <a:xfrm>
            <a:off x="10300000" y="3040000"/>
            <a:ext cx="32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400" kern="0" spc="200" dirty="0">
                <a:solidFill>
                  <a:srgbClr val="6A6A6A"/>
                </a:solidFill>
                <a:latin typeface="SFMono-Regular" pitchFamily="34" charset="0"/>
                <a:ea typeface="SFMono-Regular" pitchFamily="34" charset="-122"/>
                <a:cs typeface="SFMono-Regular" pitchFamily="34" charset="-120"/>
              </a:rPr>
              <a:t>MODEL</a:t>
            </a:r>
            <a:endParaRPr lang="en-US" sz="1400" dirty="0"/>
          </a:p>
        </p:txBody>
      </p:sp>
      <p:sp>
        <p:nvSpPr>
          <p:cNvPr id="11" name="mt0-1"/>
          <p:cNvSpPr/>
          <p:nvPr/>
        </p:nvSpPr>
        <p:spPr>
          <a:xfrm>
            <a:off x="13600000" y="304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400" kern="0" spc="200" dirty="0">
                <a:solidFill>
                  <a:srgbClr val="6A6A6A"/>
                </a:solidFill>
                <a:latin typeface="SFMono-Regular" pitchFamily="34" charset="0"/>
                <a:ea typeface="SFMono-Regular" pitchFamily="34" charset="-122"/>
                <a:cs typeface="SFMono-Regular" pitchFamily="34" charset="-120"/>
              </a:rPr>
              <a:t>ACC</a:t>
            </a:r>
            <a:endParaRPr lang="en-US" sz="1400" dirty="0"/>
          </a:p>
        </p:txBody>
      </p:sp>
      <p:sp>
        <p:nvSpPr>
          <p:cNvPr id="12" name="mt0-2"/>
          <p:cNvSpPr/>
          <p:nvPr/>
        </p:nvSpPr>
        <p:spPr>
          <a:xfrm>
            <a:off x="14800000" y="304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400" kern="0" spc="200" dirty="0">
                <a:solidFill>
                  <a:srgbClr val="6A6A6A"/>
                </a:solidFill>
                <a:latin typeface="SFMono-Regular" pitchFamily="34" charset="0"/>
                <a:ea typeface="SFMono-Regular" pitchFamily="34" charset="-122"/>
                <a:cs typeface="SFMono-Regular" pitchFamily="34" charset="-120"/>
              </a:rPr>
              <a:t>BAL ACC</a:t>
            </a:r>
            <a:endParaRPr lang="en-US" sz="1400" dirty="0"/>
          </a:p>
        </p:txBody>
      </p:sp>
      <p:sp>
        <p:nvSpPr>
          <p:cNvPr id="13" name="mt0-3"/>
          <p:cNvSpPr/>
          <p:nvPr/>
        </p:nvSpPr>
        <p:spPr>
          <a:xfrm>
            <a:off x="16000000" y="304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400" kern="0" spc="200" dirty="0">
                <a:solidFill>
                  <a:srgbClr val="6A6A6A"/>
                </a:solidFill>
                <a:latin typeface="SFMono-Regular" pitchFamily="34" charset="0"/>
                <a:ea typeface="SFMono-Regular" pitchFamily="34" charset="-122"/>
                <a:cs typeface="SFMono-Regular" pitchFamily="34" charset="-120"/>
              </a:rPr>
              <a:t>ROC-AUC</a:t>
            </a:r>
            <a:endParaRPr lang="en-US" sz="1400" dirty="0"/>
          </a:p>
        </p:txBody>
      </p:sp>
      <p:cxnSp>
        <p:nvCxnSpPr>
          <p:cNvPr id="14" name="line"/>
          <p:cNvCxnSpPr/>
          <p:nvPr/>
        </p:nvCxnSpPr>
        <p:spPr>
          <a:xfrm>
            <a:off x="10300000" y="3570000"/>
            <a:ext cx="68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5" name="mt1-0"/>
          <p:cNvSpPr/>
          <p:nvPr/>
        </p:nvSpPr>
        <p:spPr>
          <a:xfrm>
            <a:off x="10300000" y="3660000"/>
            <a:ext cx="32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Majority baseline</a:t>
            </a:r>
            <a:endParaRPr lang="en-US" sz="1700" dirty="0"/>
          </a:p>
        </p:txBody>
      </p:sp>
      <p:sp>
        <p:nvSpPr>
          <p:cNvPr id="16" name="mt1-1"/>
          <p:cNvSpPr/>
          <p:nvPr/>
        </p:nvSpPr>
        <p:spPr>
          <a:xfrm>
            <a:off x="13600000" y="366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0.617</a:t>
            </a:r>
            <a:endParaRPr lang="en-US" sz="1700" dirty="0"/>
          </a:p>
        </p:txBody>
      </p:sp>
      <p:sp>
        <p:nvSpPr>
          <p:cNvPr id="17" name="mt1-2"/>
          <p:cNvSpPr/>
          <p:nvPr/>
        </p:nvSpPr>
        <p:spPr>
          <a:xfrm>
            <a:off x="14800000" y="366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0.500</a:t>
            </a:r>
            <a:endParaRPr lang="en-US" sz="1700" dirty="0"/>
          </a:p>
        </p:txBody>
      </p:sp>
      <p:sp>
        <p:nvSpPr>
          <p:cNvPr id="18" name="mt1-3"/>
          <p:cNvSpPr/>
          <p:nvPr/>
        </p:nvSpPr>
        <p:spPr>
          <a:xfrm>
            <a:off x="16000000" y="366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0.500</a:t>
            </a:r>
            <a:endParaRPr lang="en-US" sz="1700" dirty="0"/>
          </a:p>
        </p:txBody>
      </p:sp>
      <p:cxnSp>
        <p:nvCxnSpPr>
          <p:cNvPr id="19" name="line"/>
          <p:cNvCxnSpPr/>
          <p:nvPr/>
        </p:nvCxnSpPr>
        <p:spPr>
          <a:xfrm>
            <a:off x="10300000" y="4190000"/>
            <a:ext cx="68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20" name="mt2-0"/>
          <p:cNvSpPr/>
          <p:nvPr/>
        </p:nvSpPr>
        <p:spPr>
          <a:xfrm>
            <a:off x="10300000" y="4280000"/>
            <a:ext cx="32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VIX &gt; median rule</a:t>
            </a:r>
            <a:endParaRPr lang="en-US" sz="1700" dirty="0"/>
          </a:p>
        </p:txBody>
      </p:sp>
      <p:sp>
        <p:nvSpPr>
          <p:cNvPr id="21" name="mt2-1"/>
          <p:cNvSpPr/>
          <p:nvPr/>
        </p:nvSpPr>
        <p:spPr>
          <a:xfrm>
            <a:off x="13600000" y="428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0.537</a:t>
            </a:r>
            <a:endParaRPr lang="en-US" sz="1700" dirty="0"/>
          </a:p>
        </p:txBody>
      </p:sp>
      <p:sp>
        <p:nvSpPr>
          <p:cNvPr id="22" name="mt2-2"/>
          <p:cNvSpPr/>
          <p:nvPr/>
        </p:nvSpPr>
        <p:spPr>
          <a:xfrm>
            <a:off x="14800000" y="428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0.513</a:t>
            </a:r>
            <a:endParaRPr lang="en-US" sz="1700" dirty="0"/>
          </a:p>
        </p:txBody>
      </p:sp>
      <p:sp>
        <p:nvSpPr>
          <p:cNvPr id="23" name="mt2-3"/>
          <p:cNvSpPr/>
          <p:nvPr/>
        </p:nvSpPr>
        <p:spPr>
          <a:xfrm>
            <a:off x="16000000" y="428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0.504</a:t>
            </a:r>
            <a:endParaRPr lang="en-US" sz="1700" dirty="0"/>
          </a:p>
        </p:txBody>
      </p:sp>
      <p:cxnSp>
        <p:nvCxnSpPr>
          <p:cNvPr id="24" name="line"/>
          <p:cNvCxnSpPr/>
          <p:nvPr/>
        </p:nvCxnSpPr>
        <p:spPr>
          <a:xfrm>
            <a:off x="10300000" y="4810000"/>
            <a:ext cx="68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25" name="mt3-0"/>
          <p:cNvSpPr/>
          <p:nvPr/>
        </p:nvSpPr>
        <p:spPr>
          <a:xfrm>
            <a:off x="10300000" y="4900000"/>
            <a:ext cx="32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dirty="0">
                <a:solidFill>
                  <a:srgbClr val="1A1A1A"/>
                </a:solidFill>
                <a:latin typeface="Helvetica Neue" pitchFamily="34" charset="0"/>
                <a:ea typeface="Helvetica Neue" pitchFamily="34" charset="-122"/>
                <a:cs typeface="Helvetica Neue" pitchFamily="34" charset="-120"/>
              </a:rPr>
              <a:t>Logistic (balanced)</a:t>
            </a:r>
            <a:endParaRPr lang="en-US" sz="1700" dirty="0"/>
          </a:p>
        </p:txBody>
      </p:sp>
      <p:sp>
        <p:nvSpPr>
          <p:cNvPr id="26" name="mt3-1"/>
          <p:cNvSpPr/>
          <p:nvPr/>
        </p:nvSpPr>
        <p:spPr>
          <a:xfrm>
            <a:off x="13600000" y="490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0.577</a:t>
            </a:r>
            <a:endParaRPr lang="en-US" sz="1700" dirty="0"/>
          </a:p>
        </p:txBody>
      </p:sp>
      <p:sp>
        <p:nvSpPr>
          <p:cNvPr id="27" name="mt3-2"/>
          <p:cNvSpPr/>
          <p:nvPr/>
        </p:nvSpPr>
        <p:spPr>
          <a:xfrm>
            <a:off x="14800000" y="490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0.588</a:t>
            </a:r>
            <a:endParaRPr lang="en-US" sz="1700" dirty="0"/>
          </a:p>
        </p:txBody>
      </p:sp>
      <p:sp>
        <p:nvSpPr>
          <p:cNvPr id="28" name="mt3-3"/>
          <p:cNvSpPr/>
          <p:nvPr/>
        </p:nvSpPr>
        <p:spPr>
          <a:xfrm>
            <a:off x="16000000" y="490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dirty="0">
                <a:solidFill>
                  <a:srgbClr val="6A6A6A"/>
                </a:solidFill>
                <a:latin typeface="Helvetica Neue" pitchFamily="34" charset="0"/>
                <a:ea typeface="Helvetica Neue" pitchFamily="34" charset="-122"/>
                <a:cs typeface="Helvetica Neue" pitchFamily="34" charset="-120"/>
              </a:rPr>
              <a:t>0.609</a:t>
            </a:r>
            <a:endParaRPr lang="en-US" sz="1700" dirty="0"/>
          </a:p>
        </p:txBody>
      </p:sp>
      <p:cxnSp>
        <p:nvCxnSpPr>
          <p:cNvPr id="29" name="line"/>
          <p:cNvCxnSpPr/>
          <p:nvPr/>
        </p:nvCxnSpPr>
        <p:spPr>
          <a:xfrm>
            <a:off x="10300000" y="5430000"/>
            <a:ext cx="68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30" name="rect"/>
          <p:cNvSpPr/>
          <p:nvPr/>
        </p:nvSpPr>
        <p:spPr>
          <a:xfrm>
            <a:off x="10250000" y="5430000"/>
            <a:ext cx="6900000" cy="620000"/>
          </a:xfrm>
          <a:prstGeom prst="rect">
            <a:avLst/>
          </a:prstGeom>
          <a:solidFill>
            <a:srgbClr val="FBF5E8"/>
          </a:solidFill>
          <a:ln/>
        </p:spPr>
        <p:txBody>
          <a:bodyPr/>
          <a:lstStyle/>
          <a:p>
            <a:endParaRPr lang="en-US"/>
          </a:p>
        </p:txBody>
      </p:sp>
      <p:sp>
        <p:nvSpPr>
          <p:cNvPr id="31" name="mt4-0"/>
          <p:cNvSpPr/>
          <p:nvPr/>
        </p:nvSpPr>
        <p:spPr>
          <a:xfrm>
            <a:off x="10300000" y="5520000"/>
            <a:ext cx="3200000" cy="620000"/>
          </a:xfrm>
          <a:prstGeom prst="rect">
            <a:avLst/>
          </a:prstGeom>
          <a:noFill/>
          <a:ln/>
        </p:spPr>
        <p:txBody>
          <a:bodyPr wrap="square" lIns="25400" tIns="25400" rIns="25400" bIns="25400" rtlCol="0" anchor="t">
            <a:normAutofit/>
          </a:bodyPr>
          <a:lstStyle/>
          <a:p>
            <a:pPr marL="0" indent="0" algn="l">
              <a:lnSpc>
                <a:spcPct val="140000"/>
              </a:lnSpc>
              <a:buNone/>
            </a:pPr>
            <a:r>
              <a:rPr lang="en-US" sz="1700" b="1" dirty="0">
                <a:solidFill>
                  <a:srgbClr val="9A6B1F"/>
                </a:solidFill>
                <a:latin typeface="Helvetica Neue" pitchFamily="34" charset="0"/>
                <a:ea typeface="Helvetica Neue" pitchFamily="34" charset="-122"/>
                <a:cs typeface="Helvetica Neue" pitchFamily="34" charset="-120"/>
              </a:rPr>
              <a:t>XGBoost</a:t>
            </a:r>
            <a:endParaRPr lang="en-US" sz="1700" dirty="0"/>
          </a:p>
        </p:txBody>
      </p:sp>
      <p:sp>
        <p:nvSpPr>
          <p:cNvPr id="32" name="mt4-1"/>
          <p:cNvSpPr/>
          <p:nvPr/>
        </p:nvSpPr>
        <p:spPr>
          <a:xfrm>
            <a:off x="13600000" y="552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b="1" dirty="0">
                <a:solidFill>
                  <a:srgbClr val="9A6B1F"/>
                </a:solidFill>
                <a:latin typeface="Helvetica Neue" pitchFamily="34" charset="0"/>
                <a:ea typeface="Helvetica Neue" pitchFamily="34" charset="-122"/>
                <a:cs typeface="Helvetica Neue" pitchFamily="34" charset="-120"/>
              </a:rPr>
              <a:t>0.646</a:t>
            </a:r>
            <a:endParaRPr lang="en-US" sz="1700" dirty="0"/>
          </a:p>
        </p:txBody>
      </p:sp>
      <p:sp>
        <p:nvSpPr>
          <p:cNvPr id="33" name="mt4-2"/>
          <p:cNvSpPr/>
          <p:nvPr/>
        </p:nvSpPr>
        <p:spPr>
          <a:xfrm>
            <a:off x="14800000" y="552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b="1" dirty="0">
                <a:solidFill>
                  <a:srgbClr val="9A6B1F"/>
                </a:solidFill>
                <a:latin typeface="Helvetica Neue" pitchFamily="34" charset="0"/>
                <a:ea typeface="Helvetica Neue" pitchFamily="34" charset="-122"/>
                <a:cs typeface="Helvetica Neue" pitchFamily="34" charset="-120"/>
              </a:rPr>
              <a:t>0.592</a:t>
            </a:r>
            <a:endParaRPr lang="en-US" sz="1700" dirty="0"/>
          </a:p>
        </p:txBody>
      </p:sp>
      <p:sp>
        <p:nvSpPr>
          <p:cNvPr id="34" name="mt4-3"/>
          <p:cNvSpPr/>
          <p:nvPr/>
        </p:nvSpPr>
        <p:spPr>
          <a:xfrm>
            <a:off x="16000000" y="5520000"/>
            <a:ext cx="1100000" cy="620000"/>
          </a:xfrm>
          <a:prstGeom prst="rect">
            <a:avLst/>
          </a:prstGeom>
          <a:noFill/>
          <a:ln/>
        </p:spPr>
        <p:txBody>
          <a:bodyPr wrap="square" lIns="25400" tIns="25400" rIns="25400" bIns="25400" rtlCol="0" anchor="t">
            <a:normAutofit/>
          </a:bodyPr>
          <a:lstStyle/>
          <a:p>
            <a:pPr marL="0" indent="0" algn="r">
              <a:lnSpc>
                <a:spcPct val="140000"/>
              </a:lnSpc>
              <a:buNone/>
            </a:pPr>
            <a:r>
              <a:rPr lang="en-US" sz="1700" b="1" dirty="0">
                <a:solidFill>
                  <a:srgbClr val="9A6B1F"/>
                </a:solidFill>
                <a:latin typeface="Helvetica Neue" pitchFamily="34" charset="0"/>
                <a:ea typeface="Helvetica Neue" pitchFamily="34" charset="-122"/>
                <a:cs typeface="Helvetica Neue" pitchFamily="34" charset="-120"/>
              </a:rPr>
              <a:t>0.6835</a:t>
            </a:r>
            <a:endParaRPr lang="en-US" sz="1700" dirty="0"/>
          </a:p>
        </p:txBody>
      </p:sp>
      <p:cxnSp>
        <p:nvCxnSpPr>
          <p:cNvPr id="35" name="line"/>
          <p:cNvCxnSpPr/>
          <p:nvPr/>
        </p:nvCxnSpPr>
        <p:spPr>
          <a:xfrm>
            <a:off x="10300000" y="6050000"/>
            <a:ext cx="680000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36" name="cmh"/>
          <p:cNvSpPr/>
          <p:nvPr/>
        </p:nvSpPr>
        <p:spPr>
          <a:xfrm>
            <a:off x="10300000" y="6250000"/>
            <a:ext cx="6800000" cy="460000"/>
          </a:xfrm>
          <a:prstGeom prst="rect">
            <a:avLst/>
          </a:prstGeom>
          <a:noFill/>
          <a:ln/>
        </p:spPr>
        <p:txBody>
          <a:bodyPr wrap="square" lIns="25400" tIns="25400" rIns="25400" bIns="25400" rtlCol="0" anchor="t">
            <a:normAutofit/>
          </a:bodyPr>
          <a:lstStyle/>
          <a:p>
            <a:pPr marL="0" indent="0" algn="l">
              <a:lnSpc>
                <a:spcPct val="140000"/>
              </a:lnSpc>
              <a:buNone/>
            </a:pPr>
            <a:r>
              <a:rPr lang="en-US" sz="1700" b="1" dirty="0">
                <a:solidFill>
                  <a:srgbClr val="1A1A1A"/>
                </a:solidFill>
                <a:latin typeface="Helvetica Neue" pitchFamily="34" charset="0"/>
                <a:ea typeface="Helvetica Neue" pitchFamily="34" charset="-122"/>
                <a:cs typeface="Helvetica Neue" pitchFamily="34" charset="-120"/>
              </a:rPr>
              <a:t>Confusion matrix · XGBoost</a:t>
            </a:r>
            <a:endParaRPr lang="en-US" sz="1700" dirty="0"/>
          </a:p>
        </p:txBody>
      </p:sp>
      <p:sp>
        <p:nvSpPr>
          <p:cNvPr id="37" name="cm0-0"/>
          <p:cNvSpPr/>
          <p:nvPr/>
        </p:nvSpPr>
        <p:spPr>
          <a:xfrm>
            <a:off x="10300000" y="6730000"/>
            <a:ext cx="2300000" cy="460000"/>
          </a:xfrm>
          <a:prstGeom prst="rect">
            <a:avLst/>
          </a:prstGeom>
          <a:noFill/>
          <a:ln/>
        </p:spPr>
        <p:txBody>
          <a:bodyPr wrap="square" lIns="25400" tIns="25400" rIns="25400" bIns="25400" rtlCol="0" anchor="t">
            <a:normAutofit/>
          </a:bodyPr>
          <a:lstStyle/>
          <a:p>
            <a:pPr marL="0" indent="0" algn="l">
              <a:lnSpc>
                <a:spcPct val="130000"/>
              </a:lnSpc>
              <a:buNone/>
            </a:pPr>
            <a:endParaRPr lang="en-US" sz="1200" dirty="0"/>
          </a:p>
        </p:txBody>
      </p:sp>
      <p:sp>
        <p:nvSpPr>
          <p:cNvPr id="38" name="cm0-1"/>
          <p:cNvSpPr/>
          <p:nvPr/>
        </p:nvSpPr>
        <p:spPr>
          <a:xfrm>
            <a:off x="12700000" y="6730000"/>
            <a:ext cx="20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200" kern="0" spc="180" dirty="0">
                <a:solidFill>
                  <a:srgbClr val="6A6A6A"/>
                </a:solidFill>
                <a:latin typeface="SFMono-Regular" pitchFamily="34" charset="0"/>
                <a:ea typeface="SFMono-Regular" pitchFamily="34" charset="-122"/>
                <a:cs typeface="SFMono-Regular" pitchFamily="34" charset="-120"/>
              </a:rPr>
              <a:t>PRED · Gold ≤ SPY</a:t>
            </a:r>
            <a:endParaRPr lang="en-US" sz="1200" dirty="0"/>
          </a:p>
        </p:txBody>
      </p:sp>
      <p:sp>
        <p:nvSpPr>
          <p:cNvPr id="39" name="cm0-2"/>
          <p:cNvSpPr/>
          <p:nvPr/>
        </p:nvSpPr>
        <p:spPr>
          <a:xfrm>
            <a:off x="14800000" y="6730000"/>
            <a:ext cx="20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200" kern="0" spc="180" dirty="0">
                <a:solidFill>
                  <a:srgbClr val="6A6A6A"/>
                </a:solidFill>
                <a:latin typeface="SFMono-Regular" pitchFamily="34" charset="0"/>
                <a:ea typeface="SFMono-Regular" pitchFamily="34" charset="-122"/>
                <a:cs typeface="SFMono-Regular" pitchFamily="34" charset="-120"/>
              </a:rPr>
              <a:t>PRED · Gold &gt; SPY</a:t>
            </a:r>
            <a:endParaRPr lang="en-US" sz="1200" dirty="0"/>
          </a:p>
        </p:txBody>
      </p:sp>
      <p:sp>
        <p:nvSpPr>
          <p:cNvPr id="40" name="cm1-0"/>
          <p:cNvSpPr/>
          <p:nvPr/>
        </p:nvSpPr>
        <p:spPr>
          <a:xfrm>
            <a:off x="10300000" y="7190000"/>
            <a:ext cx="23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600" b="1" dirty="0">
                <a:solidFill>
                  <a:srgbClr val="1A1A1A"/>
                </a:solidFill>
                <a:latin typeface="Helvetica Neue" pitchFamily="34" charset="0"/>
                <a:ea typeface="Helvetica Neue" pitchFamily="34" charset="-122"/>
                <a:cs typeface="Helvetica Neue" pitchFamily="34" charset="-120"/>
              </a:rPr>
              <a:t>True Gold ≤ SPY</a:t>
            </a:r>
            <a:endParaRPr lang="en-US" sz="1600" dirty="0"/>
          </a:p>
        </p:txBody>
      </p:sp>
      <p:sp>
        <p:nvSpPr>
          <p:cNvPr id="41" name="cm1-1"/>
          <p:cNvSpPr/>
          <p:nvPr/>
        </p:nvSpPr>
        <p:spPr>
          <a:xfrm>
            <a:off x="12700000" y="7190000"/>
            <a:ext cx="20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600" b="1" dirty="0">
                <a:solidFill>
                  <a:srgbClr val="9A6B1F"/>
                </a:solidFill>
                <a:latin typeface="Helvetica Neue" pitchFamily="34" charset="0"/>
                <a:ea typeface="Helvetica Neue" pitchFamily="34" charset="-122"/>
                <a:cs typeface="Helvetica Neue" pitchFamily="34" charset="-120"/>
              </a:rPr>
              <a:t>417</a:t>
            </a:r>
            <a:endParaRPr lang="en-US" sz="1600" dirty="0"/>
          </a:p>
        </p:txBody>
      </p:sp>
      <p:sp>
        <p:nvSpPr>
          <p:cNvPr id="42" name="cm1-2"/>
          <p:cNvSpPr/>
          <p:nvPr/>
        </p:nvSpPr>
        <p:spPr>
          <a:xfrm>
            <a:off x="14800000" y="7190000"/>
            <a:ext cx="20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600" dirty="0">
                <a:solidFill>
                  <a:srgbClr val="6A6A6A"/>
                </a:solidFill>
                <a:latin typeface="Helvetica Neue" pitchFamily="34" charset="0"/>
                <a:ea typeface="Helvetica Neue" pitchFamily="34" charset="-122"/>
                <a:cs typeface="Helvetica Neue" pitchFamily="34" charset="-120"/>
              </a:rPr>
              <a:t>90</a:t>
            </a:r>
            <a:endParaRPr lang="en-US" sz="1600" dirty="0"/>
          </a:p>
        </p:txBody>
      </p:sp>
      <p:sp>
        <p:nvSpPr>
          <p:cNvPr id="43" name="cm2-0"/>
          <p:cNvSpPr/>
          <p:nvPr/>
        </p:nvSpPr>
        <p:spPr>
          <a:xfrm>
            <a:off x="10300000" y="7650000"/>
            <a:ext cx="2300000" cy="460000"/>
          </a:xfrm>
          <a:prstGeom prst="rect">
            <a:avLst/>
          </a:prstGeom>
          <a:noFill/>
          <a:ln/>
        </p:spPr>
        <p:txBody>
          <a:bodyPr wrap="square" lIns="25400" tIns="25400" rIns="25400" bIns="25400" rtlCol="0" anchor="t">
            <a:normAutofit/>
          </a:bodyPr>
          <a:lstStyle/>
          <a:p>
            <a:pPr marL="0" indent="0" algn="l">
              <a:lnSpc>
                <a:spcPct val="130000"/>
              </a:lnSpc>
              <a:buNone/>
            </a:pPr>
            <a:r>
              <a:rPr lang="en-US" sz="1600" b="1" dirty="0">
                <a:solidFill>
                  <a:srgbClr val="1A1A1A"/>
                </a:solidFill>
                <a:latin typeface="Helvetica Neue" pitchFamily="34" charset="0"/>
                <a:ea typeface="Helvetica Neue" pitchFamily="34" charset="-122"/>
                <a:cs typeface="Helvetica Neue" pitchFamily="34" charset="-120"/>
              </a:rPr>
              <a:t>True Gold &gt; SPY</a:t>
            </a:r>
            <a:endParaRPr lang="en-US" sz="1600" dirty="0"/>
          </a:p>
        </p:txBody>
      </p:sp>
      <p:sp>
        <p:nvSpPr>
          <p:cNvPr id="44" name="cm2-1"/>
          <p:cNvSpPr/>
          <p:nvPr/>
        </p:nvSpPr>
        <p:spPr>
          <a:xfrm>
            <a:off x="12700000" y="7650000"/>
            <a:ext cx="20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600" dirty="0">
                <a:solidFill>
                  <a:srgbClr val="6A6A6A"/>
                </a:solidFill>
                <a:latin typeface="Helvetica Neue" pitchFamily="34" charset="0"/>
                <a:ea typeface="Helvetica Neue" pitchFamily="34" charset="-122"/>
                <a:cs typeface="Helvetica Neue" pitchFamily="34" charset="-120"/>
              </a:rPr>
              <a:t>201</a:t>
            </a:r>
            <a:endParaRPr lang="en-US" sz="1600" dirty="0"/>
          </a:p>
        </p:txBody>
      </p:sp>
      <p:sp>
        <p:nvSpPr>
          <p:cNvPr id="45" name="cm2-2"/>
          <p:cNvSpPr/>
          <p:nvPr/>
        </p:nvSpPr>
        <p:spPr>
          <a:xfrm>
            <a:off x="14800000" y="7650000"/>
            <a:ext cx="2000000" cy="460000"/>
          </a:xfrm>
          <a:prstGeom prst="rect">
            <a:avLst/>
          </a:prstGeom>
          <a:noFill/>
          <a:ln/>
        </p:spPr>
        <p:txBody>
          <a:bodyPr wrap="square" lIns="25400" tIns="25400" rIns="25400" bIns="25400" rtlCol="0" anchor="t">
            <a:normAutofit/>
          </a:bodyPr>
          <a:lstStyle/>
          <a:p>
            <a:pPr marL="0" indent="0" algn="r">
              <a:lnSpc>
                <a:spcPct val="130000"/>
              </a:lnSpc>
              <a:buNone/>
            </a:pPr>
            <a:r>
              <a:rPr lang="en-US" sz="1600" b="1" dirty="0">
                <a:solidFill>
                  <a:srgbClr val="9A6B1F"/>
                </a:solidFill>
                <a:latin typeface="Helvetica Neue" pitchFamily="34" charset="0"/>
                <a:ea typeface="Helvetica Neue" pitchFamily="34" charset="-122"/>
                <a:cs typeface="Helvetica Neue" pitchFamily="34" charset="-120"/>
              </a:rPr>
              <a:t>114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COMPARATIVE ANALYSIS</a:t>
            </a:r>
            <a:endParaRPr lang="en-US" sz="1800" dirty="0"/>
          </a:p>
        </p:txBody>
      </p:sp>
      <p:sp>
        <p:nvSpPr>
          <p:cNvPr id="3" name="Text 1"/>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What worked (and what didn't).</a:t>
            </a:r>
            <a:endParaRPr lang="en-US" sz="4500" dirty="0"/>
          </a:p>
        </p:txBody>
      </p:sp>
      <p:sp>
        <p:nvSpPr>
          <p:cNvPr id="4" name="Text 2"/>
          <p:cNvSpPr/>
          <p:nvPr/>
        </p:nvSpPr>
        <p:spPr>
          <a:xfrm>
            <a:off x="1143000" y="2377380"/>
            <a:ext cx="8829675"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Safe-haven classification — success.</a:t>
            </a:r>
            <a:endParaRPr lang="en-US" sz="2400" dirty="0"/>
          </a:p>
        </p:txBody>
      </p:sp>
      <p:sp>
        <p:nvSpPr>
          <p:cNvPr id="5" name="Text 3"/>
          <p:cNvSpPr/>
          <p:nvPr/>
        </p:nvSpPr>
        <p:spPr>
          <a:xfrm>
            <a:off x="1143000" y="2861221"/>
            <a:ext cx="8829675" cy="1584722"/>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6A6A6A"/>
                </a:solidFill>
                <a:latin typeface="Helvetica Neue" pitchFamily="34" charset="0"/>
                <a:ea typeface="Helvetica Neue" pitchFamily="34" charset="-122"/>
                <a:cs typeface="Helvetica Neue" pitchFamily="34" charset="-120"/>
              </a:rPr>
              <a:t>XGBoost significantly improved our ability to predict directional outperformance. The model achieved an </a:t>
            </a:r>
            <a:r>
              <a:rPr lang="en-US" sz="2100" b="1" dirty="0">
                <a:solidFill>
                  <a:srgbClr val="6A6A6A"/>
                </a:solidFill>
                <a:latin typeface="Helvetica Neue" pitchFamily="34" charset="0"/>
                <a:ea typeface="Helvetica Neue" pitchFamily="34" charset="-122"/>
                <a:cs typeface="Helvetica Neue" pitchFamily="34" charset="-120"/>
              </a:rPr>
              <a:t>ROC-AUC of 0.6835 </a:t>
            </a:r>
            <a:r>
              <a:rPr lang="en-US" sz="2100" dirty="0">
                <a:solidFill>
                  <a:srgbClr val="6A6A6A"/>
                </a:solidFill>
                <a:latin typeface="Helvetica Neue" pitchFamily="34" charset="0"/>
                <a:ea typeface="Helvetica Neue" pitchFamily="34" charset="-122"/>
                <a:cs typeface="Helvetica Neue" pitchFamily="34" charset="-120"/>
              </a:rPr>
              <a:t>when classifying if Gold would beat SPY the next day, indicating that non-linear models capture market stress relationships well.</a:t>
            </a:r>
            <a:endParaRPr lang="en-US" sz="2100" dirty="0"/>
          </a:p>
        </p:txBody>
      </p:sp>
      <p:sp>
        <p:nvSpPr>
          <p:cNvPr id="6" name="Text 4"/>
          <p:cNvSpPr/>
          <p:nvPr/>
        </p:nvSpPr>
        <p:spPr>
          <a:xfrm>
            <a:off x="1143000" y="4693593"/>
            <a:ext cx="8829675"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Volatility forecasting — the baseline wins.</a:t>
            </a:r>
            <a:endParaRPr lang="en-US" sz="2400" dirty="0"/>
          </a:p>
        </p:txBody>
      </p:sp>
      <p:sp>
        <p:nvSpPr>
          <p:cNvPr id="7" name="Text 5"/>
          <p:cNvSpPr/>
          <p:nvPr/>
        </p:nvSpPr>
        <p:spPr>
          <a:xfrm>
            <a:off x="1143000" y="5177433"/>
            <a:ext cx="8829675" cy="1584722"/>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6A6A6A"/>
                </a:solidFill>
                <a:latin typeface="Helvetica Neue" pitchFamily="34" charset="0"/>
                <a:ea typeface="Helvetica Neue" pitchFamily="34" charset="-122"/>
                <a:cs typeface="Helvetica Neue" pitchFamily="34" charset="-120"/>
              </a:rPr>
              <a:t>Surprisingly, XGBoost and other non-linear methods failed to consistently beat simple Persistence or Ridge regression for forecasting volatility. Because volatility is "sticky" and slow-moving, simple linear models proved incredibly difficult to beat.</a:t>
            </a:r>
            <a:endParaRPr lang="en-US" sz="2100" dirty="0"/>
          </a:p>
        </p:txBody>
      </p:sp>
      <p:sp>
        <p:nvSpPr>
          <p:cNvPr id="8" name="Text 6"/>
          <p:cNvSpPr/>
          <p:nvPr/>
        </p:nvSpPr>
        <p:spPr>
          <a:xfrm>
            <a:off x="1143000" y="7009805"/>
            <a:ext cx="8829675" cy="464790"/>
          </a:xfrm>
          <a:prstGeom prst="rect">
            <a:avLst/>
          </a:prstGeom>
          <a:noFill/>
          <a:ln/>
        </p:spPr>
        <p:txBody>
          <a:bodyPr wrap="square" lIns="25400" tIns="25400" rIns="25400" bIns="25400" rtlCol="0" anchor="t">
            <a:normAutofit/>
          </a:bodyPr>
          <a:lstStyle/>
          <a:p>
            <a:pPr marL="0" indent="0" algn="l">
              <a:lnSpc>
                <a:spcPct val="140000"/>
              </a:lnSpc>
              <a:buNone/>
            </a:pPr>
            <a:r>
              <a:rPr lang="en-US" sz="2400" b="1" dirty="0">
                <a:solidFill>
                  <a:srgbClr val="1A1A1A"/>
                </a:solidFill>
                <a:latin typeface="Helvetica Neue" pitchFamily="34" charset="0"/>
                <a:ea typeface="Helvetica Neue" pitchFamily="34" charset="-122"/>
                <a:cs typeface="Helvetica Neue" pitchFamily="34" charset="-120"/>
              </a:rPr>
              <a:t>Bitcoin vs. Gold.</a:t>
            </a:r>
            <a:endParaRPr lang="en-US" sz="2400" dirty="0"/>
          </a:p>
        </p:txBody>
      </p:sp>
      <p:sp>
        <p:nvSpPr>
          <p:cNvPr id="9" name="Text 7"/>
          <p:cNvSpPr/>
          <p:nvPr/>
        </p:nvSpPr>
        <p:spPr>
          <a:xfrm>
            <a:off x="1143000" y="7493645"/>
            <a:ext cx="8829675" cy="1198066"/>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6A6A6A"/>
                </a:solidFill>
                <a:latin typeface="Helvetica Neue" pitchFamily="34" charset="0"/>
                <a:ea typeface="Helvetica Neue" pitchFamily="34" charset="-122"/>
                <a:cs typeface="Helvetica Neue" pitchFamily="34" charset="-120"/>
              </a:rPr>
              <a:t>The models and analysis heavily rejected the "digital gold" narrative. Bitcoin behaved more like a high-beta tech equity, suffering massive volatility spikes during macro stress compared to Gold's relative stability.</a:t>
            </a:r>
            <a:endParaRPr lang="en-US" sz="2100" dirty="0"/>
          </a:p>
        </p:txBody>
      </p:sp>
      <p:sp>
        <p:nvSpPr>
          <p:cNvPr id="10" name="Text 8"/>
          <p:cNvSpPr/>
          <p:nvPr/>
        </p:nvSpPr>
        <p:spPr>
          <a:xfrm>
            <a:off x="10287000" y="2377380"/>
            <a:ext cx="7063740" cy="411361"/>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Safe-haven ROC · Gold vs. SPY (next day)</a:t>
            </a:r>
            <a:endParaRPr lang="en-US" sz="2100" dirty="0"/>
          </a:p>
        </p:txBody>
      </p:sp>
      <p:sp>
        <p:nvSpPr>
          <p:cNvPr id="11" name="Shape 9"/>
          <p:cNvSpPr/>
          <p:nvPr/>
        </p:nvSpPr>
        <p:spPr>
          <a:xfrm>
            <a:off x="10287000" y="2845891"/>
            <a:ext cx="3638550" cy="2733675"/>
          </a:xfrm>
          <a:prstGeom prst="rect">
            <a:avLst/>
          </a:prstGeom>
          <a:solidFill>
            <a:srgbClr val="FBF9F4"/>
          </a:solidFill>
          <a:ln w="9525">
            <a:solidFill>
              <a:srgbClr val="D9D9D6"/>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10287000" y="2845891"/>
            <a:ext cx="3638550" cy="2733675"/>
          </a:xfrm>
          <a:prstGeom prst="rect">
            <a:avLst/>
          </a:prstGeom>
        </p:spPr>
      </p:pic>
      <p:sp>
        <p:nvSpPr>
          <p:cNvPr id="13" name="Text 10"/>
          <p:cNvSpPr/>
          <p:nvPr/>
        </p:nvSpPr>
        <p:spPr>
          <a:xfrm>
            <a:off x="10287000" y="5920532"/>
            <a:ext cx="7063740" cy="411361"/>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SPY 5-day vol forecast · RMSE (lower = better)</a:t>
            </a:r>
            <a:endParaRPr lang="en-US" sz="2100" dirty="0"/>
          </a:p>
        </p:txBody>
      </p:sp>
      <p:sp>
        <p:nvSpPr>
          <p:cNvPr id="14" name="Shape 11"/>
          <p:cNvSpPr/>
          <p:nvPr/>
        </p:nvSpPr>
        <p:spPr>
          <a:xfrm>
            <a:off x="10287000" y="6970961"/>
            <a:ext cx="4039791" cy="9525"/>
          </a:xfrm>
          <a:prstGeom prst="rect">
            <a:avLst/>
          </a:prstGeom>
          <a:solidFill>
            <a:srgbClr val="1A1A1A"/>
          </a:solidFill>
          <a:ln/>
        </p:spPr>
        <p:txBody>
          <a:bodyPr/>
          <a:lstStyle/>
          <a:p>
            <a:endParaRPr lang="en-US"/>
          </a:p>
        </p:txBody>
      </p:sp>
      <p:sp>
        <p:nvSpPr>
          <p:cNvPr id="15" name="Text 12"/>
          <p:cNvSpPr/>
          <p:nvPr/>
        </p:nvSpPr>
        <p:spPr>
          <a:xfrm>
            <a:off x="10439400" y="6522393"/>
            <a:ext cx="3856184" cy="353318"/>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52" dirty="0">
                <a:solidFill>
                  <a:srgbClr val="6A6A6A"/>
                </a:solidFill>
                <a:latin typeface="SFMono-Regular" pitchFamily="34" charset="0"/>
                <a:ea typeface="SFMono-Regular" pitchFamily="34" charset="-122"/>
                <a:cs typeface="SFMono-Regular" pitchFamily="34" charset="-120"/>
              </a:rPr>
              <a:t>MODEL</a:t>
            </a:r>
            <a:endParaRPr lang="en-US" sz="1800" dirty="0"/>
          </a:p>
        </p:txBody>
      </p:sp>
      <p:sp>
        <p:nvSpPr>
          <p:cNvPr id="16" name="Shape 13"/>
          <p:cNvSpPr/>
          <p:nvPr/>
        </p:nvSpPr>
        <p:spPr>
          <a:xfrm>
            <a:off x="14326791" y="6970961"/>
            <a:ext cx="2818209" cy="9525"/>
          </a:xfrm>
          <a:prstGeom prst="rect">
            <a:avLst/>
          </a:prstGeom>
          <a:solidFill>
            <a:srgbClr val="1A1A1A"/>
          </a:solidFill>
          <a:ln/>
        </p:spPr>
        <p:txBody>
          <a:bodyPr/>
          <a:lstStyle/>
          <a:p>
            <a:endParaRPr lang="en-US"/>
          </a:p>
        </p:txBody>
      </p:sp>
      <p:sp>
        <p:nvSpPr>
          <p:cNvPr id="17" name="Text 14"/>
          <p:cNvSpPr/>
          <p:nvPr/>
        </p:nvSpPr>
        <p:spPr>
          <a:xfrm>
            <a:off x="14394644" y="6522393"/>
            <a:ext cx="2597956" cy="353318"/>
          </a:xfrm>
          <a:prstGeom prst="rect">
            <a:avLst/>
          </a:prstGeom>
          <a:noFill/>
          <a:ln/>
        </p:spPr>
        <p:txBody>
          <a:bodyPr wrap="square" lIns="25400" tIns="25400" rIns="25400" bIns="25400" rtlCol="0" anchor="ctr">
            <a:normAutofit/>
          </a:bodyPr>
          <a:lstStyle/>
          <a:p>
            <a:pPr marL="0" indent="0" algn="r">
              <a:lnSpc>
                <a:spcPct val="140000"/>
              </a:lnSpc>
              <a:buNone/>
            </a:pPr>
            <a:r>
              <a:rPr lang="en-US" sz="1800" kern="0" spc="252" dirty="0">
                <a:solidFill>
                  <a:srgbClr val="6A6A6A"/>
                </a:solidFill>
                <a:latin typeface="SFMono-Regular" pitchFamily="34" charset="0"/>
                <a:ea typeface="SFMono-Regular" pitchFamily="34" charset="-122"/>
                <a:cs typeface="SFMono-Regular" pitchFamily="34" charset="-120"/>
              </a:rPr>
              <a:t>RMSE</a:t>
            </a:r>
            <a:endParaRPr lang="en-US" sz="1800" dirty="0"/>
          </a:p>
        </p:txBody>
      </p:sp>
      <p:sp>
        <p:nvSpPr>
          <p:cNvPr id="18" name="Shape 15"/>
          <p:cNvSpPr/>
          <p:nvPr/>
        </p:nvSpPr>
        <p:spPr>
          <a:xfrm>
            <a:off x="10287000" y="7620446"/>
            <a:ext cx="4039791" cy="9525"/>
          </a:xfrm>
          <a:prstGeom prst="rect">
            <a:avLst/>
          </a:prstGeom>
          <a:solidFill>
            <a:srgbClr val="D9D9D6"/>
          </a:solidFill>
          <a:ln/>
        </p:spPr>
        <p:txBody>
          <a:bodyPr/>
          <a:lstStyle/>
          <a:p>
            <a:endParaRPr lang="en-US"/>
          </a:p>
        </p:txBody>
      </p:sp>
      <p:sp>
        <p:nvSpPr>
          <p:cNvPr id="19" name="Text 16"/>
          <p:cNvSpPr/>
          <p:nvPr/>
        </p:nvSpPr>
        <p:spPr>
          <a:xfrm>
            <a:off x="10439400" y="7113836"/>
            <a:ext cx="3856184" cy="411361"/>
          </a:xfrm>
          <a:prstGeom prst="rect">
            <a:avLst/>
          </a:prstGeom>
          <a:noFill/>
          <a:ln/>
        </p:spPr>
        <p:txBody>
          <a:bodyPr wrap="square" lIns="25400" tIns="25400" rIns="25400" bIns="25400" rtlCol="0" anchor="ctr">
            <a:normAutofit/>
          </a:bodyPr>
          <a:lstStyle/>
          <a:p>
            <a:pPr marL="0" indent="0" algn="l">
              <a:lnSpc>
                <a:spcPct val="140000"/>
              </a:lnSpc>
              <a:buNone/>
            </a:pPr>
            <a:r>
              <a:rPr lang="en-US" sz="2100" dirty="0">
                <a:solidFill>
                  <a:srgbClr val="1A1A1A"/>
                </a:solidFill>
                <a:latin typeface="Helvetica Neue" pitchFamily="34" charset="0"/>
                <a:ea typeface="Helvetica Neue" pitchFamily="34" charset="-122"/>
                <a:cs typeface="Helvetica Neue" pitchFamily="34" charset="-120"/>
              </a:rPr>
              <a:t>Persistence</a:t>
            </a:r>
            <a:endParaRPr lang="en-US" sz="2100" dirty="0"/>
          </a:p>
        </p:txBody>
      </p:sp>
      <p:sp>
        <p:nvSpPr>
          <p:cNvPr id="20" name="Shape 17"/>
          <p:cNvSpPr/>
          <p:nvPr/>
        </p:nvSpPr>
        <p:spPr>
          <a:xfrm>
            <a:off x="14326791" y="7620446"/>
            <a:ext cx="2818209" cy="9525"/>
          </a:xfrm>
          <a:prstGeom prst="rect">
            <a:avLst/>
          </a:prstGeom>
          <a:solidFill>
            <a:srgbClr val="D9D9D6"/>
          </a:solidFill>
          <a:ln/>
        </p:spPr>
        <p:txBody>
          <a:bodyPr/>
          <a:lstStyle/>
          <a:p>
            <a:endParaRPr lang="en-US"/>
          </a:p>
        </p:txBody>
      </p:sp>
      <p:sp>
        <p:nvSpPr>
          <p:cNvPr id="21" name="Text 18"/>
          <p:cNvSpPr/>
          <p:nvPr/>
        </p:nvSpPr>
        <p:spPr>
          <a:xfrm>
            <a:off x="14394644" y="7113836"/>
            <a:ext cx="2597956"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dirty="0">
                <a:solidFill>
                  <a:srgbClr val="1A1A1A"/>
                </a:solidFill>
                <a:latin typeface="SFMono-Regular" pitchFamily="34" charset="0"/>
                <a:ea typeface="SFMono-Regular" pitchFamily="34" charset="-122"/>
                <a:cs typeface="SFMono-Regular" pitchFamily="34" charset="-120"/>
              </a:rPr>
              <a:t>0.0248</a:t>
            </a:r>
            <a:endParaRPr lang="en-US" sz="2100" dirty="0"/>
          </a:p>
        </p:txBody>
      </p:sp>
      <p:sp>
        <p:nvSpPr>
          <p:cNvPr id="22" name="Shape 19"/>
          <p:cNvSpPr/>
          <p:nvPr/>
        </p:nvSpPr>
        <p:spPr>
          <a:xfrm>
            <a:off x="10287000" y="7629971"/>
            <a:ext cx="4039791" cy="649486"/>
          </a:xfrm>
          <a:prstGeom prst="rect">
            <a:avLst/>
          </a:prstGeom>
          <a:solidFill>
            <a:srgbClr val="FBF5E8"/>
          </a:solidFill>
          <a:ln/>
        </p:spPr>
        <p:txBody>
          <a:bodyPr/>
          <a:lstStyle/>
          <a:p>
            <a:endParaRPr lang="en-US"/>
          </a:p>
        </p:txBody>
      </p:sp>
      <p:sp>
        <p:nvSpPr>
          <p:cNvPr id="23" name="Shape 20"/>
          <p:cNvSpPr/>
          <p:nvPr/>
        </p:nvSpPr>
        <p:spPr>
          <a:xfrm>
            <a:off x="10287000" y="8269932"/>
            <a:ext cx="4039791" cy="9525"/>
          </a:xfrm>
          <a:prstGeom prst="rect">
            <a:avLst/>
          </a:prstGeom>
          <a:solidFill>
            <a:srgbClr val="D9D9D6"/>
          </a:solidFill>
          <a:ln/>
        </p:spPr>
        <p:txBody>
          <a:bodyPr/>
          <a:lstStyle/>
          <a:p>
            <a:endParaRPr lang="en-US"/>
          </a:p>
        </p:txBody>
      </p:sp>
      <p:sp>
        <p:nvSpPr>
          <p:cNvPr id="24" name="Text 21"/>
          <p:cNvSpPr/>
          <p:nvPr/>
        </p:nvSpPr>
        <p:spPr>
          <a:xfrm>
            <a:off x="10439400" y="7763321"/>
            <a:ext cx="3856184" cy="411361"/>
          </a:xfrm>
          <a:prstGeom prst="rect">
            <a:avLst/>
          </a:prstGeom>
          <a:noFill/>
          <a:ln/>
        </p:spPr>
        <p:txBody>
          <a:bodyPr wrap="square" lIns="25400" tIns="25400" rIns="25400" bIns="25400" rtlCol="0" anchor="ctr">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Ridge</a:t>
            </a:r>
            <a:endParaRPr lang="en-US" sz="2100" dirty="0"/>
          </a:p>
        </p:txBody>
      </p:sp>
      <p:sp>
        <p:nvSpPr>
          <p:cNvPr id="25" name="Shape 22"/>
          <p:cNvSpPr/>
          <p:nvPr/>
        </p:nvSpPr>
        <p:spPr>
          <a:xfrm>
            <a:off x="14326791" y="7629971"/>
            <a:ext cx="2818209" cy="649486"/>
          </a:xfrm>
          <a:prstGeom prst="rect">
            <a:avLst/>
          </a:prstGeom>
          <a:solidFill>
            <a:srgbClr val="FBF5E8"/>
          </a:solidFill>
          <a:ln/>
        </p:spPr>
        <p:txBody>
          <a:bodyPr/>
          <a:lstStyle/>
          <a:p>
            <a:endParaRPr lang="en-US"/>
          </a:p>
        </p:txBody>
      </p:sp>
      <p:sp>
        <p:nvSpPr>
          <p:cNvPr id="26" name="Shape 23"/>
          <p:cNvSpPr/>
          <p:nvPr/>
        </p:nvSpPr>
        <p:spPr>
          <a:xfrm>
            <a:off x="14326791" y="8269932"/>
            <a:ext cx="2818209" cy="9525"/>
          </a:xfrm>
          <a:prstGeom prst="rect">
            <a:avLst/>
          </a:prstGeom>
          <a:solidFill>
            <a:srgbClr val="D9D9D6"/>
          </a:solidFill>
          <a:ln/>
        </p:spPr>
        <p:txBody>
          <a:bodyPr/>
          <a:lstStyle/>
          <a:p>
            <a:endParaRPr lang="en-US"/>
          </a:p>
        </p:txBody>
      </p:sp>
      <p:sp>
        <p:nvSpPr>
          <p:cNvPr id="27" name="Text 24"/>
          <p:cNvSpPr/>
          <p:nvPr/>
        </p:nvSpPr>
        <p:spPr>
          <a:xfrm>
            <a:off x="14394644" y="7763321"/>
            <a:ext cx="2597956"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b="1" dirty="0">
                <a:solidFill>
                  <a:srgbClr val="9A6B1F"/>
                </a:solidFill>
                <a:latin typeface="SFMono-Regular" pitchFamily="34" charset="0"/>
                <a:ea typeface="SFMono-Regular" pitchFamily="34" charset="-122"/>
                <a:cs typeface="SFMono-Regular" pitchFamily="34" charset="-120"/>
              </a:rPr>
              <a:t>0.0210</a:t>
            </a:r>
            <a:endParaRPr lang="en-US" sz="2100" dirty="0"/>
          </a:p>
        </p:txBody>
      </p:sp>
      <p:sp>
        <p:nvSpPr>
          <p:cNvPr id="28" name="Shape 25"/>
          <p:cNvSpPr/>
          <p:nvPr/>
        </p:nvSpPr>
        <p:spPr>
          <a:xfrm>
            <a:off x="10287000" y="8919418"/>
            <a:ext cx="4039791" cy="9525"/>
          </a:xfrm>
          <a:prstGeom prst="rect">
            <a:avLst/>
          </a:prstGeom>
          <a:solidFill>
            <a:srgbClr val="D9D9D6"/>
          </a:solidFill>
          <a:ln/>
        </p:spPr>
        <p:txBody>
          <a:bodyPr/>
          <a:lstStyle/>
          <a:p>
            <a:endParaRPr lang="en-US"/>
          </a:p>
        </p:txBody>
      </p:sp>
      <p:sp>
        <p:nvSpPr>
          <p:cNvPr id="29" name="Text 26"/>
          <p:cNvSpPr/>
          <p:nvPr/>
        </p:nvSpPr>
        <p:spPr>
          <a:xfrm>
            <a:off x="10439400" y="8412807"/>
            <a:ext cx="3856184" cy="411361"/>
          </a:xfrm>
          <a:prstGeom prst="rect">
            <a:avLst/>
          </a:prstGeom>
          <a:noFill/>
          <a:ln/>
        </p:spPr>
        <p:txBody>
          <a:bodyPr wrap="square" lIns="25400" tIns="25400" rIns="25400" bIns="25400" rtlCol="0" anchor="ctr">
            <a:normAutofit/>
          </a:bodyPr>
          <a:lstStyle/>
          <a:p>
            <a:pPr marL="0" indent="0" algn="l">
              <a:lnSpc>
                <a:spcPct val="140000"/>
              </a:lnSpc>
              <a:buNone/>
            </a:pPr>
            <a:r>
              <a:rPr lang="en-US" sz="2100" dirty="0">
                <a:solidFill>
                  <a:srgbClr val="1A1A1A"/>
                </a:solidFill>
                <a:latin typeface="Helvetica Neue" pitchFamily="34" charset="0"/>
                <a:ea typeface="Helvetica Neue" pitchFamily="34" charset="-122"/>
                <a:cs typeface="Helvetica Neue" pitchFamily="34" charset="-120"/>
              </a:rPr>
              <a:t>XGBoost</a:t>
            </a:r>
            <a:endParaRPr lang="en-US" sz="2100" dirty="0"/>
          </a:p>
        </p:txBody>
      </p:sp>
      <p:sp>
        <p:nvSpPr>
          <p:cNvPr id="30" name="Shape 27"/>
          <p:cNvSpPr/>
          <p:nvPr/>
        </p:nvSpPr>
        <p:spPr>
          <a:xfrm>
            <a:off x="14326791" y="8919418"/>
            <a:ext cx="2818209" cy="9525"/>
          </a:xfrm>
          <a:prstGeom prst="rect">
            <a:avLst/>
          </a:prstGeom>
          <a:solidFill>
            <a:srgbClr val="D9D9D6"/>
          </a:solidFill>
          <a:ln/>
        </p:spPr>
        <p:txBody>
          <a:bodyPr/>
          <a:lstStyle/>
          <a:p>
            <a:endParaRPr lang="en-US"/>
          </a:p>
        </p:txBody>
      </p:sp>
      <p:sp>
        <p:nvSpPr>
          <p:cNvPr id="31" name="Text 28"/>
          <p:cNvSpPr/>
          <p:nvPr/>
        </p:nvSpPr>
        <p:spPr>
          <a:xfrm>
            <a:off x="14394644" y="8412807"/>
            <a:ext cx="2597956" cy="411361"/>
          </a:xfrm>
          <a:prstGeom prst="rect">
            <a:avLst/>
          </a:prstGeom>
          <a:noFill/>
          <a:ln/>
        </p:spPr>
        <p:txBody>
          <a:bodyPr wrap="square" lIns="25400" tIns="25400" rIns="25400" bIns="25400" rtlCol="0" anchor="ctr">
            <a:normAutofit/>
          </a:bodyPr>
          <a:lstStyle/>
          <a:p>
            <a:pPr marL="0" indent="0" algn="r">
              <a:lnSpc>
                <a:spcPct val="140000"/>
              </a:lnSpc>
              <a:buNone/>
            </a:pPr>
            <a:r>
              <a:rPr lang="en-US" sz="2100" dirty="0">
                <a:solidFill>
                  <a:srgbClr val="1A1A1A"/>
                </a:solidFill>
                <a:latin typeface="SFMono-Regular" pitchFamily="34" charset="0"/>
                <a:ea typeface="SFMono-Regular" pitchFamily="34" charset="-122"/>
                <a:cs typeface="SFMono-Regular" pitchFamily="34" charset="-120"/>
              </a:rPr>
              <a:t>0.0246</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Where we go next">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WHERE WE GO NEXT</a:t>
            </a:r>
            <a:endParaRPr lang="en-US" sz="1800" dirty="0"/>
          </a:p>
        </p:txBody>
      </p:sp>
      <p:sp>
        <p:nvSpPr>
          <p:cNvPr id="3" name="title"/>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Beyond a single 80/20 split.</a:t>
            </a:r>
            <a:endParaRPr lang="en-US" sz="4500" dirty="0"/>
          </a:p>
        </p:txBody>
      </p:sp>
      <p:sp>
        <p:nvSpPr>
          <p:cNvPr id="4" name="n0"/>
          <p:cNvSpPr/>
          <p:nvPr/>
        </p:nvSpPr>
        <p:spPr>
          <a:xfrm>
            <a:off x="1143000" y="2377380"/>
            <a:ext cx="1500000" cy="800000"/>
          </a:xfrm>
          <a:prstGeom prst="rect">
            <a:avLst/>
          </a:prstGeom>
          <a:noFill/>
          <a:ln/>
        </p:spPr>
        <p:txBody>
          <a:bodyPr wrap="square" lIns="25400" tIns="25400" rIns="25400" bIns="25400" rtlCol="0" anchor="t">
            <a:normAutofit/>
          </a:bodyPr>
          <a:lstStyle/>
          <a:p>
            <a:pPr marL="0" indent="0" algn="l">
              <a:lnSpc>
                <a:spcPct val="130000"/>
              </a:lnSpc>
              <a:buNone/>
            </a:pPr>
            <a:r>
              <a:rPr lang="en-US" sz="3000" kern="0" spc="200" dirty="0">
                <a:solidFill>
                  <a:srgbClr val="9A6B1F"/>
                </a:solidFill>
                <a:latin typeface="SFMono-Regular" pitchFamily="34" charset="0"/>
                <a:ea typeface="SFMono-Regular" pitchFamily="34" charset="-122"/>
                <a:cs typeface="SFMono-Regular" pitchFamily="34" charset="-120"/>
              </a:rPr>
              <a:t>01</a:t>
            </a:r>
            <a:endParaRPr lang="en-US" sz="3000" dirty="0"/>
          </a:p>
        </p:txBody>
      </p:sp>
      <p:sp>
        <p:nvSpPr>
          <p:cNvPr id="5" name="t0"/>
          <p:cNvSpPr/>
          <p:nvPr/>
        </p:nvSpPr>
        <p:spPr>
          <a:xfrm>
            <a:off x="2900000" y="2337380"/>
            <a:ext cx="14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2200" b="1" dirty="0">
                <a:solidFill>
                  <a:srgbClr val="1A1A1A"/>
                </a:solidFill>
                <a:latin typeface="Helvetica Neue" pitchFamily="34" charset="0"/>
                <a:ea typeface="Helvetica Neue" pitchFamily="34" charset="-122"/>
                <a:cs typeface="Helvetica Neue" pitchFamily="34" charset="-120"/>
              </a:rPr>
              <a:t>Walk-forward validation.</a:t>
            </a:r>
            <a:endParaRPr lang="en-US" sz="2200" dirty="0"/>
          </a:p>
        </p:txBody>
      </p:sp>
      <p:sp>
        <p:nvSpPr>
          <p:cNvPr id="6" name="b0"/>
          <p:cNvSpPr/>
          <p:nvPr/>
        </p:nvSpPr>
        <p:spPr>
          <a:xfrm>
            <a:off x="2900000" y="2917380"/>
            <a:ext cx="14400000" cy="9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Today, every result rests on one chronological train/test split. We'll move to an expanding-window scheme that retrains every quarter and reports metrics year-by-year — so we can see whether the safe-haven signal holds up across regimes, or whether 2020 is doing all the work.</a:t>
            </a:r>
            <a:endParaRPr lang="en-US" sz="1700" dirty="0"/>
          </a:p>
        </p:txBody>
      </p:sp>
      <p:cxnSp>
        <p:nvCxnSpPr>
          <p:cNvPr id="7" name="line"/>
          <p:cNvCxnSpPr/>
          <p:nvPr/>
        </p:nvCxnSpPr>
        <p:spPr>
          <a:xfrm>
            <a:off x="1143000" y="3817380"/>
            <a:ext cx="1648206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8" name="n1"/>
          <p:cNvSpPr/>
          <p:nvPr/>
        </p:nvSpPr>
        <p:spPr>
          <a:xfrm>
            <a:off x="1143000" y="3877380"/>
            <a:ext cx="1500000" cy="800000"/>
          </a:xfrm>
          <a:prstGeom prst="rect">
            <a:avLst/>
          </a:prstGeom>
          <a:noFill/>
          <a:ln/>
        </p:spPr>
        <p:txBody>
          <a:bodyPr wrap="square" lIns="25400" tIns="25400" rIns="25400" bIns="25400" rtlCol="0" anchor="t">
            <a:normAutofit/>
          </a:bodyPr>
          <a:lstStyle/>
          <a:p>
            <a:pPr marL="0" indent="0" algn="l">
              <a:lnSpc>
                <a:spcPct val="130000"/>
              </a:lnSpc>
              <a:buNone/>
            </a:pPr>
            <a:r>
              <a:rPr lang="en-US" sz="3000" kern="0" spc="200" dirty="0">
                <a:solidFill>
                  <a:srgbClr val="9A6B1F"/>
                </a:solidFill>
                <a:latin typeface="SFMono-Regular" pitchFamily="34" charset="0"/>
                <a:ea typeface="SFMono-Regular" pitchFamily="34" charset="-122"/>
                <a:cs typeface="SFMono-Regular" pitchFamily="34" charset="-120"/>
              </a:rPr>
              <a:t>02</a:t>
            </a:r>
            <a:endParaRPr lang="en-US" sz="3000" dirty="0"/>
          </a:p>
        </p:txBody>
      </p:sp>
      <p:sp>
        <p:nvSpPr>
          <p:cNvPr id="9" name="t1"/>
          <p:cNvSpPr/>
          <p:nvPr/>
        </p:nvSpPr>
        <p:spPr>
          <a:xfrm>
            <a:off x="2900000" y="3837380"/>
            <a:ext cx="14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2200" b="1" dirty="0">
                <a:solidFill>
                  <a:srgbClr val="1A1A1A"/>
                </a:solidFill>
                <a:latin typeface="Helvetica Neue" pitchFamily="34" charset="0"/>
                <a:ea typeface="Helvetica Neue" pitchFamily="34" charset="-122"/>
                <a:cs typeface="Helvetica Neue" pitchFamily="34" charset="-120"/>
              </a:rPr>
              <a:t>Explain the model, not just score it.</a:t>
            </a:r>
            <a:endParaRPr lang="en-US" sz="2200" dirty="0"/>
          </a:p>
        </p:txBody>
      </p:sp>
      <p:sp>
        <p:nvSpPr>
          <p:cNvPr id="10" name="b1"/>
          <p:cNvSpPr/>
          <p:nvPr/>
        </p:nvSpPr>
        <p:spPr>
          <a:xfrm>
            <a:off x="2900000" y="4417380"/>
            <a:ext cx="14400000" cy="9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ROC-AUC tells us the classifier works; SHAP values will tell us why. We want to know which macro signals push the model toward a Gold-over-SPY call in vol-driven stress versus credit-driven stress — a real story instead of a single number.</a:t>
            </a:r>
            <a:endParaRPr lang="en-US" sz="1700" dirty="0"/>
          </a:p>
        </p:txBody>
      </p:sp>
      <p:cxnSp>
        <p:nvCxnSpPr>
          <p:cNvPr id="11" name="line"/>
          <p:cNvCxnSpPr/>
          <p:nvPr/>
        </p:nvCxnSpPr>
        <p:spPr>
          <a:xfrm>
            <a:off x="1143000" y="5317380"/>
            <a:ext cx="1648206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2" name="n2"/>
          <p:cNvSpPr/>
          <p:nvPr/>
        </p:nvSpPr>
        <p:spPr>
          <a:xfrm>
            <a:off x="1143000" y="5377380"/>
            <a:ext cx="1500000" cy="800000"/>
          </a:xfrm>
          <a:prstGeom prst="rect">
            <a:avLst/>
          </a:prstGeom>
          <a:noFill/>
          <a:ln/>
        </p:spPr>
        <p:txBody>
          <a:bodyPr wrap="square" lIns="25400" tIns="25400" rIns="25400" bIns="25400" rtlCol="0" anchor="t">
            <a:normAutofit/>
          </a:bodyPr>
          <a:lstStyle/>
          <a:p>
            <a:pPr marL="0" indent="0" algn="l">
              <a:lnSpc>
                <a:spcPct val="130000"/>
              </a:lnSpc>
              <a:buNone/>
            </a:pPr>
            <a:r>
              <a:rPr lang="en-US" sz="3000" kern="0" spc="200" dirty="0">
                <a:solidFill>
                  <a:srgbClr val="9A6B1F"/>
                </a:solidFill>
                <a:latin typeface="SFMono-Regular" pitchFamily="34" charset="0"/>
                <a:ea typeface="SFMono-Regular" pitchFamily="34" charset="-122"/>
                <a:cs typeface="SFMono-Regular" pitchFamily="34" charset="-120"/>
              </a:rPr>
              <a:t>03</a:t>
            </a:r>
            <a:endParaRPr lang="en-US" sz="3000" dirty="0"/>
          </a:p>
        </p:txBody>
      </p:sp>
      <p:sp>
        <p:nvSpPr>
          <p:cNvPr id="13" name="t2"/>
          <p:cNvSpPr/>
          <p:nvPr/>
        </p:nvSpPr>
        <p:spPr>
          <a:xfrm>
            <a:off x="2900000" y="5337380"/>
            <a:ext cx="14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2200" b="1" dirty="0">
                <a:solidFill>
                  <a:srgbClr val="1A1A1A"/>
                </a:solidFill>
                <a:latin typeface="Helvetica Neue" pitchFamily="34" charset="0"/>
                <a:ea typeface="Helvetica Neue" pitchFamily="34" charset="-122"/>
                <a:cs typeface="Helvetica Neue" pitchFamily="34" charset="-120"/>
              </a:rPr>
              <a:t>Turn the signals into a portfolio rule.</a:t>
            </a:r>
            <a:endParaRPr lang="en-US" sz="2200" dirty="0"/>
          </a:p>
        </p:txBody>
      </p:sp>
      <p:sp>
        <p:nvSpPr>
          <p:cNvPr id="14" name="b2"/>
          <p:cNvSpPr/>
          <p:nvPr/>
        </p:nvSpPr>
        <p:spPr>
          <a:xfrm>
            <a:off x="2900000" y="5917380"/>
            <a:ext cx="14400000" cy="9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Combine the safe-haven prediction with the stress-regime forecast: tilt allocation toward Gold only when both flag risk-off conditions. Then measure Sharpe and max drawdown against a static 60 / 40 benchmark to see whether the lift is real money or just a backtest artifact.</a:t>
            </a:r>
            <a:endParaRPr lang="en-US" sz="1700" dirty="0"/>
          </a:p>
        </p:txBody>
      </p:sp>
      <p:cxnSp>
        <p:nvCxnSpPr>
          <p:cNvPr id="15" name="line"/>
          <p:cNvCxnSpPr/>
          <p:nvPr/>
        </p:nvCxnSpPr>
        <p:spPr>
          <a:xfrm>
            <a:off x="1143000" y="6817380"/>
            <a:ext cx="16482060" cy="0"/>
          </a:xfrm>
          <a:prstGeom prst="line">
            <a:avLst/>
          </a:prstGeom>
          <a:ln w="6350">
            <a:solidFill>
              <a:srgbClr val="D9D9D6"/>
            </a:solidFill>
          </a:ln>
        </p:spPr>
        <p:style>
          <a:lnRef idx="1">
            <a:scrgbClr r="0" g="0" b="0"/>
          </a:lnRef>
          <a:fillRef idx="0">
            <a:scrgbClr r="0" g="0" b="0"/>
          </a:fillRef>
          <a:effectRef idx="0">
            <a:scrgbClr r="0" g="0" b="0"/>
          </a:effectRef>
          <a:fontRef idx="minor">
            <a:schemeClr val="tx1"/>
          </a:fontRef>
        </p:style>
      </p:cxnSp>
      <p:sp>
        <p:nvSpPr>
          <p:cNvPr id="16" name="n3"/>
          <p:cNvSpPr/>
          <p:nvPr/>
        </p:nvSpPr>
        <p:spPr>
          <a:xfrm>
            <a:off x="1143000" y="6877380"/>
            <a:ext cx="1500000" cy="800000"/>
          </a:xfrm>
          <a:prstGeom prst="rect">
            <a:avLst/>
          </a:prstGeom>
          <a:noFill/>
          <a:ln/>
        </p:spPr>
        <p:txBody>
          <a:bodyPr wrap="square" lIns="25400" tIns="25400" rIns="25400" bIns="25400" rtlCol="0" anchor="t">
            <a:normAutofit/>
          </a:bodyPr>
          <a:lstStyle/>
          <a:p>
            <a:pPr marL="0" indent="0" algn="l">
              <a:lnSpc>
                <a:spcPct val="130000"/>
              </a:lnSpc>
              <a:buNone/>
            </a:pPr>
            <a:r>
              <a:rPr lang="en-US" sz="3000" kern="0" spc="200" dirty="0">
                <a:solidFill>
                  <a:srgbClr val="9A6B1F"/>
                </a:solidFill>
                <a:latin typeface="SFMono-Regular" pitchFamily="34" charset="0"/>
                <a:ea typeface="SFMono-Regular" pitchFamily="34" charset="-122"/>
                <a:cs typeface="SFMono-Regular" pitchFamily="34" charset="-120"/>
              </a:rPr>
              <a:t>04</a:t>
            </a:r>
            <a:endParaRPr lang="en-US" sz="3000" dirty="0"/>
          </a:p>
        </p:txBody>
      </p:sp>
      <p:sp>
        <p:nvSpPr>
          <p:cNvPr id="17" name="t3"/>
          <p:cNvSpPr/>
          <p:nvPr/>
        </p:nvSpPr>
        <p:spPr>
          <a:xfrm>
            <a:off x="2900000" y="6837380"/>
            <a:ext cx="14400000" cy="600000"/>
          </a:xfrm>
          <a:prstGeom prst="rect">
            <a:avLst/>
          </a:prstGeom>
          <a:noFill/>
          <a:ln/>
        </p:spPr>
        <p:txBody>
          <a:bodyPr wrap="square" lIns="25400" tIns="25400" rIns="25400" bIns="25400" rtlCol="0" anchor="t">
            <a:normAutofit/>
          </a:bodyPr>
          <a:lstStyle/>
          <a:p>
            <a:pPr marL="0" indent="0" algn="l">
              <a:lnSpc>
                <a:spcPct val="130000"/>
              </a:lnSpc>
              <a:buNone/>
            </a:pPr>
            <a:r>
              <a:rPr lang="en-US" sz="2200" b="1" dirty="0">
                <a:solidFill>
                  <a:srgbClr val="1A1A1A"/>
                </a:solidFill>
                <a:latin typeface="Helvetica Neue" pitchFamily="34" charset="0"/>
                <a:ea typeface="Helvetica Neue" pitchFamily="34" charset="-122"/>
                <a:cs typeface="Helvetica Neue" pitchFamily="34" charset="-120"/>
              </a:rPr>
              <a:t>Stress-test the stress definitions.</a:t>
            </a:r>
            <a:endParaRPr lang="en-US" sz="2200" dirty="0"/>
          </a:p>
        </p:txBody>
      </p:sp>
      <p:sp>
        <p:nvSpPr>
          <p:cNvPr id="18" name="b3"/>
          <p:cNvSpPr/>
          <p:nvPr/>
        </p:nvSpPr>
        <p:spPr>
          <a:xfrm>
            <a:off x="2900000" y="7417380"/>
            <a:ext cx="14400000" cy="900000"/>
          </a:xfrm>
          <a:prstGeom prst="rect">
            <a:avLst/>
          </a:prstGeom>
          <a:noFill/>
          <a:ln/>
        </p:spPr>
        <p:txBody>
          <a:bodyPr wrap="square" lIns="25400" tIns="25400" rIns="25400" bIns="25400" rtlCol="0" anchor="t">
            <a:normAutofit/>
          </a:bodyPr>
          <a:lstStyle/>
          <a:p>
            <a:pPr marL="0" indent="0" algn="l">
              <a:lnSpc>
                <a:spcPct val="145000"/>
              </a:lnSpc>
              <a:buNone/>
            </a:pPr>
            <a:r>
              <a:rPr lang="en-US" sz="1700" dirty="0">
                <a:solidFill>
                  <a:srgbClr val="6A6A6A"/>
                </a:solidFill>
                <a:latin typeface="Helvetica Neue" pitchFamily="34" charset="0"/>
                <a:ea typeface="Helvetica Neue" pitchFamily="34" charset="-122"/>
                <a:cs typeface="Helvetica Neue" pitchFamily="34" charset="-120"/>
              </a:rPr>
              <a:t>Re-run all of our regime-conditional analyses using 75th and 90th percentile cutoffs of the high-yield spread, the financial stress index, and VIX — and only keep findings that survive every threshold. A real safe-haven effect shouldn't depend on where we draw the line.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64820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6A6A6A"/>
                </a:solidFill>
                <a:latin typeface="SFMono-Regular" pitchFamily="34" charset="0"/>
                <a:ea typeface="SFMono-Regular" pitchFamily="34" charset="-122"/>
                <a:cs typeface="SFMono-Regular" pitchFamily="34" charset="-120"/>
              </a:rPr>
              <a:t>LIMITATIONS &amp; FINAL TAKEAWAYS</a:t>
            </a:r>
            <a:endParaRPr lang="en-US" sz="1800" dirty="0"/>
          </a:p>
        </p:txBody>
      </p:sp>
      <p:sp>
        <p:nvSpPr>
          <p:cNvPr id="3" name="Text 1"/>
          <p:cNvSpPr/>
          <p:nvPr/>
        </p:nvSpPr>
        <p:spPr>
          <a:xfrm>
            <a:off x="1143000" y="1405830"/>
            <a:ext cx="16482060" cy="6667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45" dirty="0">
                <a:solidFill>
                  <a:srgbClr val="1A1A1A"/>
                </a:solidFill>
                <a:latin typeface="Helvetica Neue" pitchFamily="34" charset="0"/>
                <a:ea typeface="Helvetica Neue" pitchFamily="34" charset="-122"/>
                <a:cs typeface="Helvetica Neue" pitchFamily="34" charset="-120"/>
              </a:rPr>
              <a:t>Limitations &amp; conclusion.</a:t>
            </a:r>
            <a:endParaRPr lang="en-US" sz="4500" dirty="0"/>
          </a:p>
        </p:txBody>
      </p:sp>
      <p:sp>
        <p:nvSpPr>
          <p:cNvPr id="4" name="Text 2"/>
          <p:cNvSpPr/>
          <p:nvPr/>
        </p:nvSpPr>
        <p:spPr>
          <a:xfrm>
            <a:off x="1143000" y="2415480"/>
            <a:ext cx="7946708" cy="312390"/>
          </a:xfrm>
          <a:prstGeom prst="rect">
            <a:avLst/>
          </a:prstGeom>
          <a:noFill/>
          <a:ln/>
        </p:spPr>
        <p:txBody>
          <a:bodyPr wrap="square" lIns="25400" tIns="25400" rIns="25400" bIns="25400" rtlCol="0" anchor="t">
            <a:normAutofit/>
          </a:bodyPr>
          <a:lstStyle/>
          <a:p>
            <a:pPr marL="0" indent="0" algn="l">
              <a:lnSpc>
                <a:spcPct val="120000"/>
              </a:lnSpc>
              <a:buNone/>
            </a:pPr>
            <a:r>
              <a:rPr lang="en-US" sz="1800" kern="0" spc="252" dirty="0">
                <a:solidFill>
                  <a:srgbClr val="9A6B1F"/>
                </a:solidFill>
                <a:latin typeface="SFMono-Regular" pitchFamily="34" charset="0"/>
                <a:ea typeface="SFMono-Regular" pitchFamily="34" charset="-122"/>
                <a:cs typeface="SFMono-Regular" pitchFamily="34" charset="-120"/>
              </a:rPr>
              <a:t>LIMITATIONS</a:t>
            </a:r>
            <a:endParaRPr lang="en-US" sz="1800" dirty="0"/>
          </a:p>
        </p:txBody>
      </p:sp>
      <p:sp>
        <p:nvSpPr>
          <p:cNvPr id="5" name="Text 3"/>
          <p:cNvSpPr/>
          <p:nvPr/>
        </p:nvSpPr>
        <p:spPr>
          <a:xfrm>
            <a:off x="1508671" y="2880271"/>
            <a:ext cx="4223528" cy="333375"/>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Next-day Gold returns are noisy.</a:t>
            </a:r>
            <a:endParaRPr lang="en-US" sz="2100" dirty="0"/>
          </a:p>
        </p:txBody>
      </p:sp>
      <p:sp>
        <p:nvSpPr>
          <p:cNvPr id="6" name="Text 4"/>
          <p:cNvSpPr/>
          <p:nvPr/>
        </p:nvSpPr>
        <p:spPr>
          <a:xfrm>
            <a:off x="1508671" y="3253532"/>
            <a:ext cx="7570067" cy="1157883"/>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6A6A6A"/>
                </a:solidFill>
                <a:latin typeface="Helvetica Neue" pitchFamily="34" charset="0"/>
                <a:ea typeface="Helvetica Neue" pitchFamily="34" charset="-122"/>
                <a:cs typeface="Helvetica Neue" pitchFamily="34" charset="-120"/>
              </a:rPr>
              <a:t>Short-horizon prediction for Gold returns remains highly vulnerable to market noise, making pure return forecasting difficult.</a:t>
            </a:r>
            <a:endParaRPr lang="en-US" sz="2100" dirty="0"/>
          </a:p>
        </p:txBody>
      </p:sp>
      <p:sp>
        <p:nvSpPr>
          <p:cNvPr id="7" name="Text 5"/>
          <p:cNvSpPr/>
          <p:nvPr/>
        </p:nvSpPr>
        <p:spPr>
          <a:xfrm>
            <a:off x="1508671" y="4544764"/>
            <a:ext cx="4106565" cy="333375"/>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Static 80/20 chronological split.</a:t>
            </a:r>
            <a:endParaRPr lang="en-US" sz="2100" dirty="0"/>
          </a:p>
        </p:txBody>
      </p:sp>
      <p:sp>
        <p:nvSpPr>
          <p:cNvPr id="8" name="Text 6"/>
          <p:cNvSpPr/>
          <p:nvPr/>
        </p:nvSpPr>
        <p:spPr>
          <a:xfrm>
            <a:off x="1508671" y="4918025"/>
            <a:ext cx="7570067" cy="1157883"/>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6A6A6A"/>
                </a:solidFill>
                <a:latin typeface="Helvetica Neue" pitchFamily="34" charset="0"/>
                <a:ea typeface="Helvetica Neue" pitchFamily="34" charset="-122"/>
                <a:cs typeface="Helvetica Neue" pitchFamily="34" charset="-120"/>
              </a:rPr>
              <a:t>Limits how well we can evaluate model robustness across shifting market decades — we plan to fix this with walk-forward validation.</a:t>
            </a:r>
            <a:endParaRPr lang="en-US" sz="2100" dirty="0"/>
          </a:p>
        </p:txBody>
      </p:sp>
      <p:sp>
        <p:nvSpPr>
          <p:cNvPr id="9" name="Text 7"/>
          <p:cNvSpPr/>
          <p:nvPr/>
        </p:nvSpPr>
        <p:spPr>
          <a:xfrm>
            <a:off x="9429750" y="2415480"/>
            <a:ext cx="7946708" cy="312390"/>
          </a:xfrm>
          <a:prstGeom prst="rect">
            <a:avLst/>
          </a:prstGeom>
          <a:noFill/>
          <a:ln/>
        </p:spPr>
        <p:txBody>
          <a:bodyPr wrap="square" lIns="25400" tIns="25400" rIns="25400" bIns="25400" rtlCol="0" anchor="t">
            <a:normAutofit/>
          </a:bodyPr>
          <a:lstStyle/>
          <a:p>
            <a:pPr marL="0" indent="0" algn="l">
              <a:lnSpc>
                <a:spcPct val="120000"/>
              </a:lnSpc>
              <a:buNone/>
            </a:pPr>
            <a:r>
              <a:rPr lang="en-US" sz="1800" kern="0" spc="252" dirty="0">
                <a:solidFill>
                  <a:srgbClr val="9A6B1F"/>
                </a:solidFill>
                <a:latin typeface="SFMono-Regular" pitchFamily="34" charset="0"/>
                <a:ea typeface="SFMono-Regular" pitchFamily="34" charset="-122"/>
                <a:cs typeface="SFMono-Regular" pitchFamily="34" charset="-120"/>
              </a:rPr>
              <a:t>CONCLUSION</a:t>
            </a:r>
            <a:endParaRPr lang="en-US" sz="1800" dirty="0"/>
          </a:p>
        </p:txBody>
      </p:sp>
      <p:sp>
        <p:nvSpPr>
          <p:cNvPr id="10" name="Text 8"/>
          <p:cNvSpPr/>
          <p:nvPr/>
        </p:nvSpPr>
        <p:spPr>
          <a:xfrm>
            <a:off x="9795421" y="2880271"/>
            <a:ext cx="4274115" cy="333375"/>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Gold is a conditional safe haven.</a:t>
            </a:r>
            <a:endParaRPr lang="en-US" sz="2100" dirty="0"/>
          </a:p>
        </p:txBody>
      </p:sp>
      <p:sp>
        <p:nvSpPr>
          <p:cNvPr id="11" name="Text 9"/>
          <p:cNvSpPr/>
          <p:nvPr/>
        </p:nvSpPr>
        <p:spPr>
          <a:xfrm>
            <a:off x="9795421" y="3253532"/>
            <a:ext cx="7570067" cy="784622"/>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6A6A6A"/>
                </a:solidFill>
                <a:latin typeface="Helvetica Neue" pitchFamily="34" charset="0"/>
                <a:ea typeface="Helvetica Neue" pitchFamily="34" charset="-122"/>
                <a:cs typeface="Helvetica Neue" pitchFamily="34" charset="-120"/>
              </a:rPr>
              <a:t>The data supports a conditional safe-haven interpretation of Gold.</a:t>
            </a:r>
            <a:endParaRPr lang="en-US" sz="2100" dirty="0"/>
          </a:p>
        </p:txBody>
      </p:sp>
      <p:sp>
        <p:nvSpPr>
          <p:cNvPr id="12" name="Text 10"/>
          <p:cNvSpPr/>
          <p:nvPr/>
        </p:nvSpPr>
        <p:spPr>
          <a:xfrm>
            <a:off x="9795421" y="4171504"/>
            <a:ext cx="6823683" cy="333375"/>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Linear baselines still dominate volatility forecasting.</a:t>
            </a:r>
            <a:endParaRPr lang="en-US" sz="2100" dirty="0"/>
          </a:p>
        </p:txBody>
      </p:sp>
      <p:sp>
        <p:nvSpPr>
          <p:cNvPr id="13" name="Text 11"/>
          <p:cNvSpPr/>
          <p:nvPr/>
        </p:nvSpPr>
        <p:spPr>
          <a:xfrm>
            <a:off x="9795421" y="4544764"/>
            <a:ext cx="7570067" cy="784622"/>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6A6A6A"/>
                </a:solidFill>
                <a:latin typeface="Helvetica Neue" pitchFamily="34" charset="0"/>
                <a:ea typeface="Helvetica Neue" pitchFamily="34" charset="-122"/>
                <a:cs typeface="Helvetica Neue" pitchFamily="34" charset="-120"/>
              </a:rPr>
              <a:t>Standard linear baselines remain very hard to beat for sticky, slow-moving volatility series.</a:t>
            </a:r>
            <a:endParaRPr lang="en-US" sz="2100" dirty="0"/>
          </a:p>
        </p:txBody>
      </p:sp>
      <p:sp>
        <p:nvSpPr>
          <p:cNvPr id="14" name="Text 12"/>
          <p:cNvSpPr/>
          <p:nvPr/>
        </p:nvSpPr>
        <p:spPr>
          <a:xfrm>
            <a:off x="9795421" y="5462736"/>
            <a:ext cx="7186068" cy="333375"/>
          </a:xfrm>
          <a:prstGeom prst="rect">
            <a:avLst/>
          </a:prstGeom>
          <a:noFill/>
          <a:ln/>
        </p:spPr>
        <p:txBody>
          <a:bodyPr wrap="square" lIns="25400" tIns="25400" rIns="25400" bIns="25400" rtlCol="0" anchor="t">
            <a:normAutofit/>
          </a:bodyPr>
          <a:lstStyle/>
          <a:p>
            <a:pPr marL="0" indent="0" algn="l">
              <a:lnSpc>
                <a:spcPct val="140000"/>
              </a:lnSpc>
              <a:buNone/>
            </a:pPr>
            <a:r>
              <a:rPr lang="en-US" sz="2100" b="1" dirty="0">
                <a:solidFill>
                  <a:srgbClr val="1A1A1A"/>
                </a:solidFill>
                <a:latin typeface="Helvetica Neue" pitchFamily="34" charset="0"/>
                <a:ea typeface="Helvetica Neue" pitchFamily="34" charset="-122"/>
                <a:cs typeface="Helvetica Neue" pitchFamily="34" charset="-120"/>
              </a:rPr>
              <a:t>XGBoost leverages macro-stress indicators effectively.</a:t>
            </a:r>
            <a:endParaRPr lang="en-US" sz="2100" dirty="0"/>
          </a:p>
        </p:txBody>
      </p:sp>
      <p:sp>
        <p:nvSpPr>
          <p:cNvPr id="15" name="Text 13"/>
          <p:cNvSpPr/>
          <p:nvPr/>
        </p:nvSpPr>
        <p:spPr>
          <a:xfrm>
            <a:off x="9795421" y="5835997"/>
            <a:ext cx="7570067" cy="784622"/>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6A6A6A"/>
                </a:solidFill>
                <a:latin typeface="Helvetica Neue" pitchFamily="34" charset="0"/>
                <a:ea typeface="Helvetica Neue" pitchFamily="34" charset="-122"/>
                <a:cs typeface="Helvetica Neue" pitchFamily="34" charset="-120"/>
              </a:rPr>
              <a:t>Machine learning models can predict directional safe-haven outperformance using stress signals.</a:t>
            </a:r>
            <a:endParaRPr lang="en-US" sz="2100" dirty="0"/>
          </a:p>
        </p:txBody>
      </p:sp>
      <p:sp>
        <p:nvSpPr>
          <p:cNvPr id="16" name="Shape 14"/>
          <p:cNvSpPr/>
          <p:nvPr/>
        </p:nvSpPr>
        <p:spPr>
          <a:xfrm>
            <a:off x="1143000" y="7287369"/>
            <a:ext cx="16002000" cy="9525"/>
          </a:xfrm>
          <a:prstGeom prst="rect">
            <a:avLst/>
          </a:prstGeom>
          <a:solidFill>
            <a:srgbClr val="D9D9D6"/>
          </a:solidFill>
          <a:ln/>
        </p:spPr>
        <p:txBody>
          <a:bodyPr/>
          <a:lstStyle/>
          <a:p>
            <a:endParaRPr lang="en-US"/>
          </a:p>
        </p:txBody>
      </p:sp>
      <p:sp>
        <p:nvSpPr>
          <p:cNvPr id="17" name="Text 15"/>
          <p:cNvSpPr/>
          <p:nvPr/>
        </p:nvSpPr>
        <p:spPr>
          <a:xfrm>
            <a:off x="1143000" y="7525494"/>
            <a:ext cx="7140386" cy="411361"/>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6A6A6A"/>
                </a:solidFill>
                <a:latin typeface="Helvetica Neue" pitchFamily="34" charset="0"/>
                <a:ea typeface="Helvetica Neue" pitchFamily="34" charset="-122"/>
                <a:cs typeface="Helvetica Neue" pitchFamily="34" charset="-120"/>
              </a:rPr>
              <a:t>Dhruv Kartik · Sebastian Vaskes Pimentel · Nathan Dennis</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1888</Words>
  <Application>Microsoft Macintosh PowerPoint</Application>
  <PresentationFormat>Custom</PresentationFormat>
  <Paragraphs>214</Paragraphs>
  <Slides>12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Helvetica Neue</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Dhruv Kartik</cp:lastModifiedBy>
  <cp:revision>3</cp:revision>
  <dcterms:created xsi:type="dcterms:W3CDTF">2026-05-06T04:42:21Z</dcterms:created>
  <dcterms:modified xsi:type="dcterms:W3CDTF">2026-05-06T05:49:00Z</dcterms:modified>
</cp:coreProperties>
</file>