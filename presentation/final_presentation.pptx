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 I'm Sebastian. This is a CompSci 390B group project on Gold, SPY, and Bitcoin under macro stress. The question is simple: when markets get stressed, does Gold actually protect capital, and does Bitcoin behave like digital Gold? A safe haven isn't an asset with a nice average return. It's an asset that defends exactly when equities are under pressure. I worked on model design and evaluation. Dhruv built most of the empirical pipeline. Nathan led the written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4,150 daily observations, October 2014 through February 2026, from a public Kaggle panel. Gold, SPY, Bitcoin, plus VIX, high-yield spreads, and a financial stress index. Log returns, because prices weren't stationary. Stress is the 66th percentile of three proxies. About a third of days trip each flag. stress_any is 56% of days; stress_all is 14%. We re-ran the tests at the 75th and 90th percentiles. If a finding only exists at one cutoff, we don't trust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Milestone 1 tried to predict next-day Gold returns. Ridge could not beat a zero baseline. Volatility was a different story — persistence and Ridge already had R-squared in the 0.87 to 0.90 range on five-day SPY vol. So we stopped asking can we predict Gold tomorrow, and started asking when does Gold actually behave defensively, and under what kind of stress? That turn is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VIX stress, Gold's mean daily log return is +0.00068. SPY is minus 0.00092. The Gold–SPY spread widens by 0.00247, and the bootstrap interval excludes zero. Composite stress looks the same direction, weaker. Financial-stress-index stress does not show a Gold advantage. Takeaway: Gold is a conditional safe haven, not a universal one. Volatility-style stress is where the defensive behavior shows 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stress_any is on, Gold vol rises 25 percent. SPY vol rises 78 percent. Bitcoin sits near 61 percent in both regimes. Unchanged Bitcoin vol is not defensiveness — it's always violent. Gold's beta to SPY falls in stress, 0.16 to 0.02. Bitcoin's beta rises, 0.67 to 0.86. Bitcoin shares more of SPY's worst 5 percent days than Gold does. I would not call Bitcoin digital Gold on this sample.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COVID 2020 is the textbook case. Gold plus 6.4 percent, SPY minus 14.5, Bitcoin minus 17.5. Gold's max drawdown is about a third of SPY's. 2022 inflation and rate hikes: Gold minus 11.9, SPY minus 5.9. Gold does not outperform. That's the counterexample that makes the conclusion conditional. 2023 banking stress: Gold beats SPY, but Bitcoin rallies more. Different shocks, different safe assets. Don't average them into one slogan.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tasks, chronological splits, no shuffling. Model E: will Gold beat SPY tomorrow? XGBoost ROC-AUC 0.6835 versus 0.50 majority and 0.50 VIX rule. Random Forest actually wins balanced accuracy. Ranking winner and classification winner are not the same model. Model F: Ridge and persistence beat XGBoost on sticky volatility. XGBoost's five-day VIX R-squared is negative. Model G: original high-yield target was 0.7 percent positive, so accuracy was useless. On stress_any, logistic PR-AUC 0.7095 beats XGBoost. Match the model class to the target.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Walk-forward, expanding window, 2019 through 2026: mean ROC-AUC 0.6571, every fold above 0.55. Not one lucky split. SHAP on Model E: 40 percent of the mass is cross-asset momentum, 20 percent macro stress. It is a momentum-plus-stress classifier, not a pure stress gauge. VIX widening survives 66, 75, and 90. stress_any dies at 90. HYS and FSI never were robust.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findings. Stress tracks volatility. Gold is a conditional safe haven. Bitcoin is not digital Gold here. Limitations I want on the table: full-sample quantiles, regime drift — the MLP's 47-point train/test gap is the exhibit — event-window choice, 2014 start, no trading costs, and the original notebooks were not recovered. The report is the source of truth for the numbers. Happy to take questions on the modeling comparison or on why we moved off daily Gold-return prediction.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B12"/>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1234440"/>
            <a:ext cx="4023360" cy="384048"/>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A78BFA"/>
                </a:solidFill>
              </a:rPr>
              <a:t>COMPSCI 390B  ·  SPRING 2026</a:t>
            </a:r>
          </a:p>
        </p:txBody>
      </p:sp>
      <p:sp>
        <p:nvSpPr>
          <p:cNvPr id="4" name="Rounded Rectangle 3"/>
          <p:cNvSpPr/>
          <p:nvPr/>
        </p:nvSpPr>
        <p:spPr>
          <a:xfrm>
            <a:off x="640080" y="1828800"/>
            <a:ext cx="10972800" cy="105156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F2F0F7"/>
                </a:solidFill>
              </a:rPr>
              <a:t>Does Gold actually protect capital under macro stress?</a:t>
            </a:r>
          </a:p>
        </p:txBody>
      </p:sp>
      <p:sp>
        <p:nvSpPr>
          <p:cNvPr id="5" name="Rounded Rectangle 4"/>
          <p:cNvSpPr/>
          <p:nvPr/>
        </p:nvSpPr>
        <p:spPr>
          <a:xfrm>
            <a:off x="640080" y="2926080"/>
            <a:ext cx="10972800" cy="64008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A78BFA"/>
                </a:solidFill>
              </a:rPr>
              <a:t>And does Bitcoin behave like digital Gold?</a:t>
            </a:r>
          </a:p>
        </p:txBody>
      </p:sp>
      <p:sp>
        <p:nvSpPr>
          <p:cNvPr id="6" name="Rounded Rectangle 5"/>
          <p:cNvSpPr/>
          <p:nvPr/>
        </p:nvSpPr>
        <p:spPr>
          <a:xfrm>
            <a:off x="640080" y="4023360"/>
            <a:ext cx="10972800" cy="50292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8A8498"/>
                </a:solidFill>
              </a:rPr>
              <a:t>Sebastian Vaskes Pimentel  ·  Dhruv Kartik  ·  Nathan Dennis</a:t>
            </a:r>
          </a:p>
        </p:txBody>
      </p:sp>
      <p:sp>
        <p:nvSpPr>
          <p:cNvPr id="7" name="Rounded Rectangle 6"/>
          <p:cNvSpPr/>
          <p:nvPr/>
        </p:nvSpPr>
        <p:spPr>
          <a:xfrm>
            <a:off x="640080" y="5806440"/>
            <a:ext cx="10972800" cy="45720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C4B5FD"/>
                </a:solidFill>
              </a:rPr>
              <a:t>Takeaway: a safe haven has to defend exactly when equities are under pressure.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0B12"/>
        </a:solidFill>
        <a:effectLst/>
      </p:bgPr>
    </p:bg>
    <p:spTree>
      <p:nvGrpSpPr>
        <p:cNvPr id="1" name=""/>
        <p:cNvGrpSpPr/>
        <p:nvPr/>
      </p:nvGrpSpPr>
      <p:grpSpPr/>
      <p:graphicFrame>
        <p:nvGraphicFramePr>
          <p:cNvPr id="2" name="Table 1"/>
          <p:cNvGraphicFramePr>
            <a:graphicFrameLocks noGrp="1"/>
          </p:cNvGraphicFramePr>
          <p:nvPr/>
        </p:nvGraphicFramePr>
        <p:xfrm>
          <a:off x="502920" y="1417320"/>
          <a:ext cx="11155680" cy="4206240"/>
        </p:xfrm>
        <a:graphic>
          <a:graphicData uri="http://schemas.openxmlformats.org/drawingml/2006/table">
            <a:tbl>
              <a:tblPr firstRow="1" bandRow="1">
                <a:tableStyleId>{5C22544A-7EE6-4342-B048-85BDC9FD1C3A}</a:tableStyleId>
              </a:tblPr>
              <a:tblGrid>
                <a:gridCol w="3718560"/>
                <a:gridCol w="3718560"/>
                <a:gridCol w="3718560"/>
              </a:tblGrid>
              <a:tr h="701040">
                <a:tc>
                  <a:txBody>
                    <a:bodyPr/>
                    <a:lstStyle/>
                    <a:p>
                      <a:r>
                        <a:t>Regime</a:t>
                      </a:r>
                    </a:p>
                  </a:txBody>
                  <a:tcPr/>
                </a:tc>
                <a:tc>
                  <a:txBody>
                    <a:bodyPr/>
                    <a:lstStyle/>
                    <a:p>
                      <a:r>
                        <a:t>Rule</a:t>
                      </a:r>
                    </a:p>
                  </a:txBody>
                  <a:tcPr/>
                </a:tc>
                <a:tc>
                  <a:txBody>
                    <a:bodyPr/>
                    <a:lstStyle/>
                    <a:p>
                      <a:r>
                        <a:t>Share of days</a:t>
                      </a:r>
                    </a:p>
                  </a:txBody>
                  <a:tcPr/>
                </a:tc>
              </a:tr>
              <a:tr h="701040">
                <a:tc>
                  <a:txBody>
                    <a:bodyPr/>
                    <a:lstStyle/>
                    <a:p>
                      <a:r>
                        <a:t>stress_hys</a:t>
                      </a:r>
                    </a:p>
                  </a:txBody>
                  <a:tcPr/>
                </a:tc>
                <a:tc>
                  <a:txBody>
                    <a:bodyPr/>
                    <a:lstStyle/>
                    <a:p>
                      <a:r>
                        <a:t>High-yield spread ≥ 4.400</a:t>
                      </a:r>
                    </a:p>
                  </a:txBody>
                  <a:tcPr/>
                </a:tc>
                <a:tc>
                  <a:txBody>
                    <a:bodyPr/>
                    <a:lstStyle/>
                    <a:p>
                      <a:r>
                        <a:t>34.2%</a:t>
                      </a:r>
                    </a:p>
                  </a:txBody>
                  <a:tcPr/>
                </a:tc>
              </a:tr>
              <a:tr h="701040">
                <a:tc>
                  <a:txBody>
                    <a:bodyPr/>
                    <a:lstStyle/>
                    <a:p>
                      <a:r>
                        <a:t>stress_fsi</a:t>
                      </a:r>
                    </a:p>
                  </a:txBody>
                  <a:tcPr/>
                </a:tc>
                <a:tc>
                  <a:txBody>
                    <a:bodyPr/>
                    <a:lstStyle/>
                    <a:p>
                      <a:r>
                        <a:t>Financial stress index ≥ −0.172</a:t>
                      </a:r>
                    </a:p>
                  </a:txBody>
                  <a:tcPr/>
                </a:tc>
                <a:tc>
                  <a:txBody>
                    <a:bodyPr/>
                    <a:lstStyle/>
                    <a:p>
                      <a:r>
                        <a:t>34.1%</a:t>
                      </a:r>
                    </a:p>
                  </a:txBody>
                  <a:tcPr/>
                </a:tc>
              </a:tr>
              <a:tr h="701040">
                <a:tc>
                  <a:txBody>
                    <a:bodyPr/>
                    <a:lstStyle/>
                    <a:p>
                      <a:r>
                        <a:t>stress_vix</a:t>
                      </a:r>
                    </a:p>
                  </a:txBody>
                  <a:tcPr/>
                </a:tc>
                <a:tc>
                  <a:txBody>
                    <a:bodyPr/>
                    <a:lstStyle/>
                    <a:p>
                      <a:r>
                        <a:t>VIX ≥ 19.060</a:t>
                      </a:r>
                    </a:p>
                  </a:txBody>
                  <a:tcPr/>
                </a:tc>
                <a:tc>
                  <a:txBody>
                    <a:bodyPr/>
                    <a:lstStyle/>
                    <a:p>
                      <a:r>
                        <a:t>34.0%</a:t>
                      </a:r>
                    </a:p>
                  </a:txBody>
                  <a:tcPr/>
                </a:tc>
              </a:tr>
              <a:tr h="701040">
                <a:tc>
                  <a:txBody>
                    <a:bodyPr/>
                    <a:lstStyle/>
                    <a:p>
                      <a:r>
                        <a:t>stress_any</a:t>
                      </a:r>
                    </a:p>
                  </a:txBody>
                  <a:tcPr/>
                </a:tc>
                <a:tc>
                  <a:txBody>
                    <a:bodyPr/>
                    <a:lstStyle/>
                    <a:p>
                      <a:r>
                        <a:t>At least one flag</a:t>
                      </a:r>
                    </a:p>
                  </a:txBody>
                  <a:tcPr/>
                </a:tc>
                <a:tc>
                  <a:txBody>
                    <a:bodyPr/>
                    <a:lstStyle/>
                    <a:p>
                      <a:r>
                        <a:t>56.3%</a:t>
                      </a:r>
                    </a:p>
                  </a:txBody>
                  <a:tcPr/>
                </a:tc>
              </a:tr>
              <a:tr h="701040">
                <a:tc>
                  <a:txBody>
                    <a:bodyPr/>
                    <a:lstStyle/>
                    <a:p>
                      <a:r>
                        <a:t>stress_all</a:t>
                      </a:r>
                    </a:p>
                  </a:txBody>
                  <a:tcPr/>
                </a:tc>
                <a:tc>
                  <a:txBody>
                    <a:bodyPr/>
                    <a:lstStyle/>
                    <a:p>
                      <a:r>
                        <a:t>All three flags</a:t>
                      </a:r>
                    </a:p>
                  </a:txBody>
                  <a:tcPr/>
                </a:tc>
                <a:tc>
                  <a:txBody>
                    <a:bodyPr/>
                    <a:lstStyle/>
                    <a:p>
                      <a:r>
                        <a:t>14.3%</a:t>
                      </a:r>
                    </a:p>
                  </a:txBody>
                  <a:tcPr/>
                </a:tc>
              </a:tr>
            </a:tbl>
          </a:graphicData>
        </a:graphic>
      </p:graphicFrame>
      <p:sp>
        <p:nvSpPr>
          <p:cNvPr id="3" name="Rectangle 2"/>
          <p:cNvSpPr/>
          <p:nvPr/>
        </p:nvSpPr>
        <p:spPr>
          <a:xfrm>
            <a:off x="0" y="0"/>
            <a:ext cx="146304" cy="685800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56032"/>
            <a:ext cx="11155680" cy="50292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F2F0F7"/>
                </a:solidFill>
              </a:rPr>
              <a:t>4,150 days · Gold, SPY, Bitcoin · 66th-percentile stress flags</a:t>
            </a:r>
          </a:p>
        </p:txBody>
      </p:sp>
      <p:sp>
        <p:nvSpPr>
          <p:cNvPr id="5" name="Rounded Rectangle 4"/>
          <p:cNvSpPr/>
          <p:nvPr/>
        </p:nvSpPr>
        <p:spPr>
          <a:xfrm>
            <a:off x="502920" y="822960"/>
            <a:ext cx="11155680" cy="36576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8A8498"/>
                </a:solidFill>
              </a:rPr>
              <a:t>2014-10-17 to 2026-02-25. Log returns. Multiple definitions so a finding has to survive more than one cutoff.</a:t>
            </a:r>
          </a:p>
        </p:txBody>
      </p:sp>
      <p:sp>
        <p:nvSpPr>
          <p:cNvPr id="6" name="Rounded Rectangle 5"/>
          <p:cNvSpPr/>
          <p:nvPr/>
        </p:nvSpPr>
        <p:spPr>
          <a:xfrm>
            <a:off x="502920" y="5989320"/>
            <a:ext cx="11155680" cy="45720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C4B5FD"/>
                </a:solidFill>
              </a:rPr>
              <a:t>Takeaway: 66th percentile isolates elevated stress without emptying the sample.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0B12"/>
        </a:solidFill>
        <a:effectLst/>
      </p:bgPr>
    </p:bg>
    <p:spTree>
      <p:nvGrpSpPr>
        <p:cNvPr id="1" name=""/>
        <p:cNvGrpSpPr/>
        <p:nvPr/>
      </p:nvGrpSpPr>
      <p:grpSpPr/>
      <p:graphicFrame>
        <p:nvGraphicFramePr>
          <p:cNvPr id="2" name="Table 1"/>
          <p:cNvGraphicFramePr>
            <a:graphicFrameLocks noGrp="1"/>
          </p:cNvGraphicFramePr>
          <p:nvPr/>
        </p:nvGraphicFramePr>
        <p:xfrm>
          <a:off x="502920" y="1097280"/>
          <a:ext cx="11155680" cy="4389120"/>
        </p:xfrm>
        <a:graphic>
          <a:graphicData uri="http://schemas.openxmlformats.org/drawingml/2006/table">
            <a:tbl>
              <a:tblPr firstRow="1" bandRow="1">
                <a:tableStyleId>{5C22544A-7EE6-4342-B048-85BDC9FD1C3A}</a:tableStyleId>
              </a:tblPr>
              <a:tblGrid>
                <a:gridCol w="5577840"/>
                <a:gridCol w="5577840"/>
              </a:tblGrid>
              <a:tr h="877824">
                <a:tc>
                  <a:txBody>
                    <a:bodyPr/>
                    <a:lstStyle/>
                    <a:p>
                      <a:r>
                        <a:t>Attempt</a:t>
                      </a:r>
                    </a:p>
                  </a:txBody>
                  <a:tcPr/>
                </a:tc>
                <a:tc>
                  <a:txBody>
                    <a:bodyPr/>
                    <a:lstStyle/>
                    <a:p>
                      <a:r>
                        <a:t>Result</a:t>
                      </a:r>
                    </a:p>
                  </a:txBody>
                  <a:tcPr/>
                </a:tc>
              </a:tr>
              <a:tr h="877824">
                <a:tc>
                  <a:txBody>
                    <a:bodyPr/>
                    <a:lstStyle/>
                    <a:p>
                      <a:r>
                        <a:t>Next-day Gold log return (Ridge)</a:t>
                      </a:r>
                    </a:p>
                  </a:txBody>
                  <a:tcPr/>
                </a:tc>
                <a:tc>
                  <a:txBody>
                    <a:bodyPr/>
                    <a:lstStyle/>
                    <a:p>
                      <a:r>
                        <a:t>RMSE 0.010764 — did not beat a zero baseline (0.010732)</a:t>
                      </a:r>
                    </a:p>
                  </a:txBody>
                  <a:tcPr/>
                </a:tc>
              </a:tr>
              <a:tr h="877824">
                <a:tc>
                  <a:txBody>
                    <a:bodyPr/>
                    <a:lstStyle/>
                    <a:p>
                      <a:r>
                        <a:t>SPY 30d vol, h=5 (persistence)</a:t>
                      </a:r>
                    </a:p>
                  </a:txBody>
                  <a:tcPr/>
                </a:tc>
                <a:tc>
                  <a:txBody>
                    <a:bodyPr/>
                    <a:lstStyle/>
                    <a:p>
                      <a:r>
                        <a:t>RMSE ~0.0248</a:t>
                      </a:r>
                    </a:p>
                  </a:txBody>
                  <a:tcPr/>
                </a:tc>
              </a:tr>
              <a:tr h="877824">
                <a:tc>
                  <a:txBody>
                    <a:bodyPr/>
                    <a:lstStyle/>
                    <a:p>
                      <a:r>
                        <a:t>SPY 30d vol, h=5 (Ridge)</a:t>
                      </a:r>
                    </a:p>
                  </a:txBody>
                  <a:tcPr/>
                </a:tc>
                <a:tc>
                  <a:txBody>
                    <a:bodyPr/>
                    <a:lstStyle/>
                    <a:p>
                      <a:r>
                        <a:t>RMSE ~0.0210  ·  R² ~0.9046 in the later pipeline</a:t>
                      </a:r>
                    </a:p>
                  </a:txBody>
                  <a:tcPr/>
                </a:tc>
              </a:tr>
              <a:tr h="877824">
                <a:tc>
                  <a:txBody>
                    <a:bodyPr/>
                    <a:lstStyle/>
                    <a:p>
                      <a:r>
                        <a:t>What we did next</a:t>
                      </a:r>
                    </a:p>
                  </a:txBody>
                  <a:tcPr/>
                </a:tc>
                <a:tc>
                  <a:txBody>
                    <a:bodyPr/>
                    <a:lstStyle/>
                    <a:p>
                      <a:r>
                        <a:t>Define stress regimes and test Gold as a conditional safe haven</a:t>
                      </a:r>
                    </a:p>
                  </a:txBody>
                  <a:tcPr/>
                </a:tc>
              </a:tr>
            </a:tbl>
          </a:graphicData>
        </a:graphic>
      </p:graphicFrame>
      <p:sp>
        <p:nvSpPr>
          <p:cNvPr id="3" name="Rectangle 2"/>
          <p:cNvSpPr/>
          <p:nvPr/>
        </p:nvSpPr>
        <p:spPr>
          <a:xfrm>
            <a:off x="0" y="0"/>
            <a:ext cx="146304" cy="685800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56032"/>
            <a:ext cx="11155680" cy="50292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F2F0F7"/>
                </a:solidFill>
              </a:rPr>
              <a:t>EDA changed the question</a:t>
            </a:r>
          </a:p>
        </p:txBody>
      </p:sp>
      <p:sp>
        <p:nvSpPr>
          <p:cNvPr id="5" name="Rounded Rectangle 4"/>
          <p:cNvSpPr/>
          <p:nvPr/>
        </p:nvSpPr>
        <p:spPr>
          <a:xfrm>
            <a:off x="502920" y="5989320"/>
            <a:ext cx="11155680" cy="45720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C4B5FD"/>
                </a:solidFill>
              </a:rPr>
              <a:t>Takeaway: we stopped forecasting daily Gold and asked when Gold actually defends.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0B12"/>
        </a:solidFill>
        <a:effectLst/>
      </p:bgPr>
    </p:bg>
    <p:spTree>
      <p:nvGrpSpPr>
        <p:cNvPr id="1" name=""/>
        <p:cNvGrpSpPr/>
        <p:nvPr/>
      </p:nvGrpSpPr>
      <p:grpSpPr/>
      <p:graphicFrame>
        <p:nvGraphicFramePr>
          <p:cNvPr id="2" name="Table 1"/>
          <p:cNvGraphicFramePr>
            <a:graphicFrameLocks noGrp="1"/>
          </p:cNvGraphicFramePr>
          <p:nvPr/>
        </p:nvGraphicFramePr>
        <p:xfrm>
          <a:off x="502920" y="1051560"/>
          <a:ext cx="11155680" cy="4572000"/>
        </p:xfrm>
        <a:graphic>
          <a:graphicData uri="http://schemas.openxmlformats.org/drawingml/2006/table">
            <a:tbl>
              <a:tblPr firstRow="1" bandRow="1">
                <a:tableStyleId>{5C22544A-7EE6-4342-B048-85BDC9FD1C3A}</a:tableStyleId>
              </a:tblPr>
              <a:tblGrid>
                <a:gridCol w="1859280"/>
                <a:gridCol w="1859280"/>
                <a:gridCol w="1859280"/>
                <a:gridCol w="1859280"/>
                <a:gridCol w="1859280"/>
                <a:gridCol w="1859280"/>
              </a:tblGrid>
              <a:tr h="914400">
                <a:tc>
                  <a:txBody>
                    <a:bodyPr/>
                    <a:lstStyle/>
                    <a:p>
                      <a:r>
                        <a:t>Regime</a:t>
                      </a:r>
                    </a:p>
                  </a:txBody>
                  <a:tcPr/>
                </a:tc>
                <a:tc>
                  <a:txBody>
                    <a:bodyPr/>
                    <a:lstStyle/>
                    <a:p>
                      <a:r>
                        <a:t>Gold</a:t>
                      </a:r>
                    </a:p>
                  </a:txBody>
                  <a:tcPr/>
                </a:tc>
                <a:tc>
                  <a:txBody>
                    <a:bodyPr/>
                    <a:lstStyle/>
                    <a:p>
                      <a:r>
                        <a:t>SPY</a:t>
                      </a:r>
                    </a:p>
                  </a:txBody>
                  <a:tcPr/>
                </a:tc>
                <a:tc>
                  <a:txBody>
                    <a:bodyPr/>
                    <a:lstStyle/>
                    <a:p>
                      <a:r>
                        <a:t>BTC</a:t>
                      </a:r>
                    </a:p>
                  </a:txBody>
                  <a:tcPr/>
                </a:tc>
                <a:tc>
                  <a:txBody>
                    <a:bodyPr/>
                    <a:lstStyle/>
                    <a:p>
                      <a:r>
                        <a:t>Gold–SPY widening</a:t>
                      </a:r>
                    </a:p>
                  </a:txBody>
                  <a:tcPr/>
                </a:tc>
                <a:tc>
                  <a:txBody>
                    <a:bodyPr/>
                    <a:lstStyle/>
                    <a:p>
                      <a:r>
                        <a:t>CI lower bound</a:t>
                      </a:r>
                    </a:p>
                  </a:txBody>
                  <a:tcPr/>
                </a:tc>
              </a:tr>
              <a:tr h="914400">
                <a:tc>
                  <a:txBody>
                    <a:bodyPr/>
                    <a:lstStyle/>
                    <a:p>
                      <a:r>
                        <a:t>stress_vix</a:t>
                      </a:r>
                    </a:p>
                  </a:txBody>
                  <a:tcPr/>
                </a:tc>
                <a:tc>
                  <a:txBody>
                    <a:bodyPr/>
                    <a:lstStyle/>
                    <a:p>
                      <a:r>
                        <a:t>+0.00068</a:t>
                      </a:r>
                    </a:p>
                  </a:txBody>
                  <a:tcPr/>
                </a:tc>
                <a:tc>
                  <a:txBody>
                    <a:bodyPr/>
                    <a:lstStyle/>
                    <a:p>
                      <a:r>
                        <a:t>−0.00092</a:t>
                      </a:r>
                    </a:p>
                  </a:txBody>
                  <a:tcPr/>
                </a:tc>
                <a:tc>
                  <a:txBody>
                    <a:bodyPr/>
                    <a:lstStyle/>
                    <a:p>
                      <a:r>
                        <a:t>−0.00008</a:t>
                      </a:r>
                    </a:p>
                  </a:txBody>
                  <a:tcPr/>
                </a:tc>
                <a:tc>
                  <a:txBody>
                    <a:bodyPr/>
                    <a:lstStyle/>
                    <a:p>
                      <a:r>
                        <a:t>+0.00247</a:t>
                      </a:r>
                    </a:p>
                  </a:txBody>
                  <a:tcPr/>
                </a:tc>
                <a:tc>
                  <a:txBody>
                    <a:bodyPr/>
                    <a:lstStyle/>
                    <a:p>
                      <a:r>
                        <a:t>+0.00157</a:t>
                      </a:r>
                    </a:p>
                  </a:txBody>
                  <a:tcPr/>
                </a:tc>
              </a:tr>
              <a:tr h="914400">
                <a:tc>
                  <a:txBody>
                    <a:bodyPr/>
                    <a:lstStyle/>
                    <a:p>
                      <a:r>
                        <a:t>stress_any</a:t>
                      </a:r>
                    </a:p>
                  </a:txBody>
                  <a:tcPr/>
                </a:tc>
                <a:tc>
                  <a:txBody>
                    <a:bodyPr/>
                    <a:lstStyle/>
                    <a:p>
                      <a:r>
                        <a:t>—</a:t>
                      </a:r>
                    </a:p>
                  </a:txBody>
                  <a:tcPr/>
                </a:tc>
                <a:tc>
                  <a:txBody>
                    <a:bodyPr/>
                    <a:lstStyle/>
                    <a:p>
                      <a:r>
                        <a:t>—</a:t>
                      </a:r>
                    </a:p>
                  </a:txBody>
                  <a:tcPr/>
                </a:tc>
                <a:tc>
                  <a:txBody>
                    <a:bodyPr/>
                    <a:lstStyle/>
                    <a:p>
                      <a:r>
                        <a:t>—</a:t>
                      </a:r>
                    </a:p>
                  </a:txBody>
                  <a:tcPr/>
                </a:tc>
                <a:tc>
                  <a:txBody>
                    <a:bodyPr/>
                    <a:lstStyle/>
                    <a:p>
                      <a:r>
                        <a:t>+0.00096</a:t>
                      </a:r>
                    </a:p>
                  </a:txBody>
                  <a:tcPr/>
                </a:tc>
                <a:tc>
                  <a:txBody>
                    <a:bodyPr/>
                    <a:lstStyle/>
                    <a:p>
                      <a:r>
                        <a:t>+0.00029</a:t>
                      </a:r>
                    </a:p>
                  </a:txBody>
                  <a:tcPr/>
                </a:tc>
              </a:tr>
              <a:tr h="914400">
                <a:tc>
                  <a:txBody>
                    <a:bodyPr/>
                    <a:lstStyle/>
                    <a:p>
                      <a:r>
                        <a:t>stress_all</a:t>
                      </a:r>
                    </a:p>
                  </a:txBody>
                  <a:tcPr/>
                </a:tc>
                <a:tc>
                  <a:txBody>
                    <a:bodyPr/>
                    <a:lstStyle/>
                    <a:p>
                      <a:r>
                        <a:t>—</a:t>
                      </a:r>
                    </a:p>
                  </a:txBody>
                  <a:tcPr/>
                </a:tc>
                <a:tc>
                  <a:txBody>
                    <a:bodyPr/>
                    <a:lstStyle/>
                    <a:p>
                      <a:r>
                        <a:t>—</a:t>
                      </a:r>
                    </a:p>
                  </a:txBody>
                  <a:tcPr/>
                </a:tc>
                <a:tc>
                  <a:txBody>
                    <a:bodyPr/>
                    <a:lstStyle/>
                    <a:p>
                      <a:r>
                        <a:t>—</a:t>
                      </a:r>
                    </a:p>
                  </a:txBody>
                  <a:tcPr/>
                </a:tc>
                <a:tc>
                  <a:txBody>
                    <a:bodyPr/>
                    <a:lstStyle/>
                    <a:p>
                      <a:r>
                        <a:t>+0.00191</a:t>
                      </a:r>
                    </a:p>
                  </a:txBody>
                  <a:tcPr/>
                </a:tc>
                <a:tc>
                  <a:txBody>
                    <a:bodyPr/>
                    <a:lstStyle/>
                    <a:p>
                      <a:r>
                        <a:t>+0.00040</a:t>
                      </a:r>
                    </a:p>
                  </a:txBody>
                  <a:tcPr/>
                </a:tc>
              </a:tr>
              <a:tr h="914400">
                <a:tc>
                  <a:txBody>
                    <a:bodyPr/>
                    <a:lstStyle/>
                    <a:p>
                      <a:r>
                        <a:t>stress_fsi</a:t>
                      </a:r>
                    </a:p>
                  </a:txBody>
                  <a:tcPr/>
                </a:tc>
                <a:tc>
                  <a:txBody>
                    <a:bodyPr/>
                    <a:lstStyle/>
                    <a:p>
                      <a:r>
                        <a:t>—</a:t>
                      </a:r>
                    </a:p>
                  </a:txBody>
                  <a:tcPr/>
                </a:tc>
                <a:tc>
                  <a:txBody>
                    <a:bodyPr/>
                    <a:lstStyle/>
                    <a:p>
                      <a:r>
                        <a:t>—</a:t>
                      </a:r>
                    </a:p>
                  </a:txBody>
                  <a:tcPr/>
                </a:tc>
                <a:tc>
                  <a:txBody>
                    <a:bodyPr/>
                    <a:lstStyle/>
                    <a:p>
                      <a:r>
                        <a:t>—</a:t>
                      </a:r>
                    </a:p>
                  </a:txBody>
                  <a:tcPr/>
                </a:tc>
                <a:tc>
                  <a:txBody>
                    <a:bodyPr/>
                    <a:lstStyle/>
                    <a:p>
                      <a:r>
                        <a:t>−0.00012</a:t>
                      </a:r>
                    </a:p>
                  </a:txBody>
                  <a:tcPr/>
                </a:tc>
                <a:tc>
                  <a:txBody>
                    <a:bodyPr/>
                    <a:lstStyle/>
                    <a:p>
                      <a:r>
                        <a:t>no Gold advantage</a:t>
                      </a:r>
                    </a:p>
                  </a:txBody>
                  <a:tcPr/>
                </a:tc>
              </a:tr>
            </a:tbl>
          </a:graphicData>
        </a:graphic>
      </p:graphicFrame>
      <p:sp>
        <p:nvSpPr>
          <p:cNvPr id="3" name="Rectangle 2"/>
          <p:cNvSpPr/>
          <p:nvPr/>
        </p:nvSpPr>
        <p:spPr>
          <a:xfrm>
            <a:off x="0" y="0"/>
            <a:ext cx="146304" cy="685800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56032"/>
            <a:ext cx="11155680" cy="50292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F2F0F7"/>
                </a:solidFill>
              </a:rPr>
              <a:t>Gold is a conditional safe haven</a:t>
            </a:r>
          </a:p>
        </p:txBody>
      </p:sp>
      <p:sp>
        <p:nvSpPr>
          <p:cNvPr id="5" name="Rounded Rectangle 4"/>
          <p:cNvSpPr/>
          <p:nvPr/>
        </p:nvSpPr>
        <p:spPr>
          <a:xfrm>
            <a:off x="502920" y="5989320"/>
            <a:ext cx="11155680" cy="45720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C4B5FD"/>
                </a:solidFill>
              </a:rPr>
              <a:t>Takeaway: VIX stress shows a Gold advantage; FSI stress does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0B12"/>
        </a:solidFill>
        <a:effectLst/>
      </p:bgPr>
    </p:bg>
    <p:spTree>
      <p:nvGrpSpPr>
        <p:cNvPr id="1" name=""/>
        <p:cNvGrpSpPr/>
        <p:nvPr/>
      </p:nvGrpSpPr>
      <p:grpSpPr/>
      <p:pic>
        <p:nvPicPr>
          <p:cNvPr id="2" name="Picture 1" descr="fig1-volatility-by-regime.png"/>
          <p:cNvPicPr>
            <a:picLocks noChangeAspect="1"/>
          </p:cNvPicPr>
          <p:nvPr/>
        </p:nvPicPr>
        <p:blipFill>
          <a:blip r:embed="rId2"/>
          <a:stretch>
            <a:fillRect/>
          </a:stretch>
        </p:blipFill>
        <p:spPr>
          <a:xfrm>
            <a:off x="411480" y="822960"/>
            <a:ext cx="6035040" cy="4052211"/>
          </a:xfrm>
          <a:prstGeom prst="rect">
            <a:avLst/>
          </a:prstGeom>
        </p:spPr>
      </p:pic>
      <p:graphicFrame>
        <p:nvGraphicFramePr>
          <p:cNvPr id="3" name="Table 2"/>
          <p:cNvGraphicFramePr>
            <a:graphicFrameLocks noGrp="1"/>
          </p:cNvGraphicFramePr>
          <p:nvPr/>
        </p:nvGraphicFramePr>
        <p:xfrm>
          <a:off x="6583680" y="960120"/>
          <a:ext cx="5120640" cy="4572000"/>
        </p:xfrm>
        <a:graphic>
          <a:graphicData uri="http://schemas.openxmlformats.org/drawingml/2006/table">
            <a:tbl>
              <a:tblPr firstRow="1" bandRow="1">
                <a:tableStyleId>{5C22544A-7EE6-4342-B048-85BDC9FD1C3A}</a:tableStyleId>
              </a:tblPr>
              <a:tblGrid>
                <a:gridCol w="1706880"/>
                <a:gridCol w="1706880"/>
                <a:gridCol w="1706880"/>
              </a:tblGrid>
              <a:tr h="653142">
                <a:tc>
                  <a:txBody>
                    <a:bodyPr/>
                    <a:lstStyle/>
                    <a:p/>
                  </a:txBody>
                  <a:tcPr/>
                </a:tc>
                <a:tc>
                  <a:txBody>
                    <a:bodyPr/>
                    <a:lstStyle/>
                    <a:p>
                      <a:r>
                        <a:t>Calm</a:t>
                      </a:r>
                    </a:p>
                  </a:txBody>
                  <a:tcPr/>
                </a:tc>
                <a:tc>
                  <a:txBody>
                    <a:bodyPr/>
                    <a:lstStyle/>
                    <a:p>
                      <a:r>
                        <a:t>Stress</a:t>
                      </a:r>
                    </a:p>
                  </a:txBody>
                  <a:tcPr/>
                </a:tc>
              </a:tr>
              <a:tr h="653142">
                <a:tc>
                  <a:txBody>
                    <a:bodyPr/>
                    <a:lstStyle/>
                    <a:p>
                      <a:r>
                        <a:t>Gold β to SPY</a:t>
                      </a:r>
                    </a:p>
                  </a:txBody>
                  <a:tcPr/>
                </a:tc>
                <a:tc>
                  <a:txBody>
                    <a:bodyPr/>
                    <a:lstStyle/>
                    <a:p>
                      <a:r>
                        <a:t>+0.157</a:t>
                      </a:r>
                    </a:p>
                  </a:txBody>
                  <a:tcPr/>
                </a:tc>
                <a:tc>
                  <a:txBody>
                    <a:bodyPr/>
                    <a:lstStyle/>
                    <a:p>
                      <a:r>
                        <a:t>+0.020</a:t>
                      </a:r>
                    </a:p>
                  </a:txBody>
                  <a:tcPr/>
                </a:tc>
              </a:tr>
              <a:tr h="653142">
                <a:tc>
                  <a:txBody>
                    <a:bodyPr/>
                    <a:lstStyle/>
                    <a:p>
                      <a:r>
                        <a:t>BTC β to SPY</a:t>
                      </a:r>
                    </a:p>
                  </a:txBody>
                  <a:tcPr/>
                </a:tc>
                <a:tc>
                  <a:txBody>
                    <a:bodyPr/>
                    <a:lstStyle/>
                    <a:p>
                      <a:r>
                        <a:t>+0.666</a:t>
                      </a:r>
                    </a:p>
                  </a:txBody>
                  <a:tcPr/>
                </a:tc>
                <a:tc>
                  <a:txBody>
                    <a:bodyPr/>
                    <a:lstStyle/>
                    <a:p>
                      <a:r>
                        <a:t>+0.862</a:t>
                      </a:r>
                    </a:p>
                  </a:txBody>
                  <a:tcPr/>
                </a:tc>
              </a:tr>
              <a:tr h="653142">
                <a:tc>
                  <a:txBody>
                    <a:bodyPr/>
                    <a:lstStyle/>
                    <a:p>
                      <a:r>
                        <a:t>Gold 30d vol</a:t>
                      </a:r>
                    </a:p>
                  </a:txBody>
                  <a:tcPr/>
                </a:tc>
                <a:tc>
                  <a:txBody>
                    <a:bodyPr/>
                    <a:lstStyle/>
                    <a:p>
                      <a:r>
                        <a:t>0.104</a:t>
                      </a:r>
                    </a:p>
                  </a:txBody>
                  <a:tcPr/>
                </a:tc>
                <a:tc>
                  <a:txBody>
                    <a:bodyPr/>
                    <a:lstStyle/>
                    <a:p>
                      <a:r>
                        <a:t>0.130</a:t>
                      </a:r>
                    </a:p>
                  </a:txBody>
                  <a:tcPr/>
                </a:tc>
              </a:tr>
              <a:tr h="653142">
                <a:tc>
                  <a:txBody>
                    <a:bodyPr/>
                    <a:lstStyle/>
                    <a:p>
                      <a:r>
                        <a:t>SPY 30d vol</a:t>
                      </a:r>
                    </a:p>
                  </a:txBody>
                  <a:tcPr/>
                </a:tc>
                <a:tc>
                  <a:txBody>
                    <a:bodyPr/>
                    <a:lstStyle/>
                    <a:p>
                      <a:r>
                        <a:t>0.085</a:t>
                      </a:r>
                    </a:p>
                  </a:txBody>
                  <a:tcPr/>
                </a:tc>
                <a:tc>
                  <a:txBody>
                    <a:bodyPr/>
                    <a:lstStyle/>
                    <a:p>
                      <a:r>
                        <a:t>0.152</a:t>
                      </a:r>
                    </a:p>
                  </a:txBody>
                  <a:tcPr/>
                </a:tc>
              </a:tr>
              <a:tr h="653142">
                <a:tc>
                  <a:txBody>
                    <a:bodyPr/>
                    <a:lstStyle/>
                    <a:p>
                      <a:r>
                        <a:t>BTC 30d vol</a:t>
                      </a:r>
                    </a:p>
                  </a:txBody>
                  <a:tcPr/>
                </a:tc>
                <a:tc>
                  <a:txBody>
                    <a:bodyPr/>
                    <a:lstStyle/>
                    <a:p>
                      <a:r>
                        <a:t>0.608</a:t>
                      </a:r>
                    </a:p>
                  </a:txBody>
                  <a:tcPr/>
                </a:tc>
                <a:tc>
                  <a:txBody>
                    <a:bodyPr/>
                    <a:lstStyle/>
                    <a:p>
                      <a:r>
                        <a:t>0.610</a:t>
                      </a:r>
                    </a:p>
                  </a:txBody>
                  <a:tcPr/>
                </a:tc>
              </a:tr>
              <a:tr h="653148">
                <a:tc>
                  <a:txBody>
                    <a:bodyPr/>
                    <a:lstStyle/>
                    <a:p>
                      <a:r>
                        <a:t>Worst-5% overlap w/ SPY</a:t>
                      </a:r>
                    </a:p>
                  </a:txBody>
                  <a:tcPr/>
                </a:tc>
                <a:tc>
                  <a:txBody>
                    <a:bodyPr/>
                    <a:lstStyle/>
                    <a:p>
                      <a:r>
                        <a:t>Gold 13.5%</a:t>
                      </a:r>
                    </a:p>
                  </a:txBody>
                  <a:tcPr/>
                </a:tc>
                <a:tc>
                  <a:txBody>
                    <a:bodyPr/>
                    <a:lstStyle/>
                    <a:p>
                      <a:r>
                        <a:t>BTC 16.3%</a:t>
                      </a:r>
                    </a:p>
                  </a:txBody>
                  <a:tcPr/>
                </a:tc>
              </a:tr>
            </a:tbl>
          </a:graphicData>
        </a:graphic>
      </p:graphicFrame>
      <p:sp>
        <p:nvSpPr>
          <p:cNvPr id="4" name="Rectangle 3"/>
          <p:cNvSpPr/>
          <p:nvPr/>
        </p:nvSpPr>
        <p:spPr>
          <a:xfrm>
            <a:off x="0" y="0"/>
            <a:ext cx="146304" cy="685800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01168"/>
            <a:ext cx="11155680" cy="45720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F2F0F7"/>
                </a:solidFill>
              </a:rPr>
              <a:t>Volatility, beta, Bitcoin</a:t>
            </a:r>
          </a:p>
        </p:txBody>
      </p:sp>
      <p:sp>
        <p:nvSpPr>
          <p:cNvPr id="6" name="Rounded Rectangle 5"/>
          <p:cNvSpPr/>
          <p:nvPr/>
        </p:nvSpPr>
        <p:spPr>
          <a:xfrm>
            <a:off x="502920" y="5989320"/>
            <a:ext cx="11155680" cy="45720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C4B5FD"/>
                </a:solidFill>
              </a:rPr>
              <a:t>Takeaway: Gold becomes less equity-sensitive in stress. Bitcoin becomes more.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0B12"/>
        </a:solidFill>
        <a:effectLst/>
      </p:bgPr>
    </p:bg>
    <p:spTree>
      <p:nvGrpSpPr>
        <p:cNvPr id="1" name=""/>
        <p:cNvGrpSpPr/>
        <p:nvPr/>
      </p:nvGrpSpPr>
      <p:grpSpPr/>
      <p:pic>
        <p:nvPicPr>
          <p:cNvPr id="2" name="Picture 1" descr="fig2-stress-window-returns.png"/>
          <p:cNvPicPr>
            <a:picLocks noChangeAspect="1"/>
          </p:cNvPicPr>
          <p:nvPr/>
        </p:nvPicPr>
        <p:blipFill>
          <a:blip r:embed="rId2"/>
          <a:stretch>
            <a:fillRect/>
          </a:stretch>
        </p:blipFill>
        <p:spPr>
          <a:xfrm>
            <a:off x="365760" y="777240"/>
            <a:ext cx="6858000" cy="2637319"/>
          </a:xfrm>
          <a:prstGeom prst="rect">
            <a:avLst/>
          </a:prstGeom>
        </p:spPr>
      </p:pic>
      <p:graphicFrame>
        <p:nvGraphicFramePr>
          <p:cNvPr id="3" name="Table 2"/>
          <p:cNvGraphicFramePr>
            <a:graphicFrameLocks noGrp="1"/>
          </p:cNvGraphicFramePr>
          <p:nvPr/>
        </p:nvGraphicFramePr>
        <p:xfrm>
          <a:off x="7360920" y="1005840"/>
          <a:ext cx="4389120" cy="4206240"/>
        </p:xfrm>
        <a:graphic>
          <a:graphicData uri="http://schemas.openxmlformats.org/drawingml/2006/table">
            <a:tbl>
              <a:tblPr firstRow="1" bandRow="1">
                <a:tableStyleId>{5C22544A-7EE6-4342-B048-85BDC9FD1C3A}</a:tableStyleId>
              </a:tblPr>
              <a:tblGrid>
                <a:gridCol w="1097280"/>
                <a:gridCol w="1097280"/>
                <a:gridCol w="1097280"/>
                <a:gridCol w="1097280"/>
              </a:tblGrid>
              <a:tr h="841248">
                <a:tc>
                  <a:txBody>
                    <a:bodyPr/>
                    <a:lstStyle/>
                    <a:p>
                      <a:r>
                        <a:t>Window</a:t>
                      </a:r>
                    </a:p>
                  </a:txBody>
                  <a:tcPr/>
                </a:tc>
                <a:tc>
                  <a:txBody>
                    <a:bodyPr/>
                    <a:lstStyle/>
                    <a:p>
                      <a:r>
                        <a:t>Gold</a:t>
                      </a:r>
                    </a:p>
                  </a:txBody>
                  <a:tcPr/>
                </a:tc>
                <a:tc>
                  <a:txBody>
                    <a:bodyPr/>
                    <a:lstStyle/>
                    <a:p>
                      <a:r>
                        <a:t>SPY</a:t>
                      </a:r>
                    </a:p>
                  </a:txBody>
                  <a:tcPr/>
                </a:tc>
                <a:tc>
                  <a:txBody>
                    <a:bodyPr/>
                    <a:lstStyle/>
                    <a:p>
                      <a:r>
                        <a:t>BTC</a:t>
                      </a:r>
                    </a:p>
                  </a:txBody>
                  <a:tcPr/>
                </a:tc>
              </a:tr>
              <a:tr h="841248">
                <a:tc>
                  <a:txBody>
                    <a:bodyPr/>
                    <a:lstStyle/>
                    <a:p>
                      <a:r>
                        <a:t>COVID 2020</a:t>
                      </a:r>
                    </a:p>
                  </a:txBody>
                  <a:tcPr/>
                </a:tc>
                <a:tc>
                  <a:txBody>
                    <a:bodyPr/>
                    <a:lstStyle/>
                    <a:p>
                      <a:r>
                        <a:t>+0.064</a:t>
                      </a:r>
                    </a:p>
                  </a:txBody>
                  <a:tcPr/>
                </a:tc>
                <a:tc>
                  <a:txBody>
                    <a:bodyPr/>
                    <a:lstStyle/>
                    <a:p>
                      <a:r>
                        <a:t>−0.145</a:t>
                      </a:r>
                    </a:p>
                  </a:txBody>
                  <a:tcPr/>
                </a:tc>
                <a:tc>
                  <a:txBody>
                    <a:bodyPr/>
                    <a:lstStyle/>
                    <a:p>
                      <a:r>
                        <a:t>−0.175</a:t>
                      </a:r>
                    </a:p>
                  </a:txBody>
                  <a:tcPr/>
                </a:tc>
              </a:tr>
              <a:tr h="841248">
                <a:tc>
                  <a:txBody>
                    <a:bodyPr/>
                    <a:lstStyle/>
                    <a:p>
                      <a:r>
                        <a:t>Inflation 2022</a:t>
                      </a:r>
                    </a:p>
                  </a:txBody>
                  <a:tcPr/>
                </a:tc>
                <a:tc>
                  <a:txBody>
                    <a:bodyPr/>
                    <a:lstStyle/>
                    <a:p>
                      <a:r>
                        <a:t>−0.119</a:t>
                      </a:r>
                    </a:p>
                  </a:txBody>
                  <a:tcPr/>
                </a:tc>
                <a:tc>
                  <a:txBody>
                    <a:bodyPr/>
                    <a:lstStyle/>
                    <a:p>
                      <a:r>
                        <a:t>−0.059</a:t>
                      </a:r>
                    </a:p>
                  </a:txBody>
                  <a:tcPr/>
                </a:tc>
                <a:tc>
                  <a:txBody>
                    <a:bodyPr/>
                    <a:lstStyle/>
                    <a:p>
                      <a:r>
                        <a:t>−0.439</a:t>
                      </a:r>
                    </a:p>
                  </a:txBody>
                  <a:tcPr/>
                </a:tc>
              </a:tr>
              <a:tr h="841248">
                <a:tc>
                  <a:txBody>
                    <a:bodyPr/>
                    <a:lstStyle/>
                    <a:p>
                      <a:r>
                        <a:t>Banking 2023</a:t>
                      </a:r>
                    </a:p>
                  </a:txBody>
                  <a:tcPr/>
                </a:tc>
                <a:tc>
                  <a:txBody>
                    <a:bodyPr/>
                    <a:lstStyle/>
                    <a:p>
                      <a:r>
                        <a:t>+0.085</a:t>
                      </a:r>
                    </a:p>
                  </a:txBody>
                  <a:tcPr/>
                </a:tc>
                <a:tc>
                  <a:txBody>
                    <a:bodyPr/>
                    <a:lstStyle/>
                    <a:p>
                      <a:r>
                        <a:t>+0.052</a:t>
                      </a:r>
                    </a:p>
                  </a:txBody>
                  <a:tcPr/>
                </a:tc>
                <a:tc>
                  <a:txBody>
                    <a:bodyPr/>
                    <a:lstStyle/>
                    <a:p>
                      <a:r>
                        <a:t>+0.235</a:t>
                      </a:r>
                    </a:p>
                  </a:txBody>
                  <a:tcPr/>
                </a:tc>
              </a:tr>
              <a:tr h="841248">
                <a:tc>
                  <a:txBody>
                    <a:bodyPr/>
                    <a:lstStyle/>
                    <a:p>
                      <a:r>
                        <a:t>COVID max DD</a:t>
                      </a:r>
                    </a:p>
                  </a:txBody>
                  <a:tcPr/>
                </a:tc>
                <a:tc>
                  <a:txBody>
                    <a:bodyPr/>
                    <a:lstStyle/>
                    <a:p>
                      <a:r>
                        <a:t>−0.134</a:t>
                      </a:r>
                    </a:p>
                  </a:txBody>
                  <a:tcPr/>
                </a:tc>
                <a:tc>
                  <a:txBody>
                    <a:bodyPr/>
                    <a:lstStyle/>
                    <a:p>
                      <a:r>
                        <a:t>−0.411</a:t>
                      </a:r>
                    </a:p>
                  </a:txBody>
                  <a:tcPr/>
                </a:tc>
                <a:tc>
                  <a:txBody>
                    <a:bodyPr/>
                    <a:lstStyle/>
                    <a:p>
                      <a:r>
                        <a:t>−0.713</a:t>
                      </a:r>
                    </a:p>
                  </a:txBody>
                  <a:tcPr/>
                </a:tc>
              </a:tr>
            </a:tbl>
          </a:graphicData>
        </a:graphic>
      </p:graphicFrame>
      <p:sp>
        <p:nvSpPr>
          <p:cNvPr id="4" name="Rectangle 3"/>
          <p:cNvSpPr/>
          <p:nvPr/>
        </p:nvSpPr>
        <p:spPr>
          <a:xfrm>
            <a:off x="0" y="0"/>
            <a:ext cx="146304" cy="685800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01168"/>
            <a:ext cx="11155680" cy="45720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F2F0F7"/>
                </a:solidFill>
              </a:rPr>
              <a:t>Three shocks, three answers</a:t>
            </a:r>
          </a:p>
        </p:txBody>
      </p:sp>
      <p:sp>
        <p:nvSpPr>
          <p:cNvPr id="6" name="Rounded Rectangle 5"/>
          <p:cNvSpPr/>
          <p:nvPr/>
        </p:nvSpPr>
        <p:spPr>
          <a:xfrm>
            <a:off x="502920" y="5989320"/>
            <a:ext cx="11155680" cy="45720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C4B5FD"/>
                </a:solidFill>
              </a:rPr>
              <a:t>Takeaway: COVID is the safe-haven case. 2022 is why the conclusion is conditional.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0B12"/>
        </a:solidFill>
        <a:effectLst/>
      </p:bgPr>
    </p:bg>
    <p:spTree>
      <p:nvGrpSpPr>
        <p:cNvPr id="1" name=""/>
        <p:cNvGrpSpPr/>
        <p:nvPr/>
      </p:nvGrpSpPr>
      <p:grpSpPr/>
      <p:pic>
        <p:nvPicPr>
          <p:cNvPr id="2" name="Picture 1" descr="fig3-model-roc-auc.png"/>
          <p:cNvPicPr>
            <a:picLocks noChangeAspect="1"/>
          </p:cNvPicPr>
          <p:nvPr/>
        </p:nvPicPr>
        <p:blipFill>
          <a:blip r:embed="rId2"/>
          <a:stretch>
            <a:fillRect/>
          </a:stretch>
        </p:blipFill>
        <p:spPr>
          <a:xfrm>
            <a:off x="320040" y="777240"/>
            <a:ext cx="5943600" cy="4378271"/>
          </a:xfrm>
          <a:prstGeom prst="rect">
            <a:avLst/>
          </a:prstGeom>
        </p:spPr>
      </p:pic>
      <p:graphicFrame>
        <p:nvGraphicFramePr>
          <p:cNvPr id="3" name="Table 2"/>
          <p:cNvGraphicFramePr>
            <a:graphicFrameLocks noGrp="1"/>
          </p:cNvGraphicFramePr>
          <p:nvPr/>
        </p:nvGraphicFramePr>
        <p:xfrm>
          <a:off x="6400800" y="868680"/>
          <a:ext cx="5349240" cy="4663440"/>
        </p:xfrm>
        <a:graphic>
          <a:graphicData uri="http://schemas.openxmlformats.org/drawingml/2006/table">
            <a:tbl>
              <a:tblPr firstRow="1" bandRow="1">
                <a:tableStyleId>{5C22544A-7EE6-4342-B048-85BDC9FD1C3A}</a:tableStyleId>
              </a:tblPr>
              <a:tblGrid>
                <a:gridCol w="1783080"/>
                <a:gridCol w="1783080"/>
                <a:gridCol w="1783080"/>
              </a:tblGrid>
              <a:tr h="777240">
                <a:tc>
                  <a:txBody>
                    <a:bodyPr/>
                    <a:lstStyle/>
                    <a:p>
                      <a:r>
                        <a:t>Task</a:t>
                      </a:r>
                    </a:p>
                  </a:txBody>
                  <a:tcPr/>
                </a:tc>
                <a:tc>
                  <a:txBody>
                    <a:bodyPr/>
                    <a:lstStyle/>
                    <a:p>
                      <a:r>
                        <a:t>Winner</a:t>
                      </a:r>
                    </a:p>
                  </a:txBody>
                  <a:tcPr/>
                </a:tc>
                <a:tc>
                  <a:txBody>
                    <a:bodyPr/>
                    <a:lstStyle/>
                    <a:p>
                      <a:r>
                        <a:t>Number</a:t>
                      </a:r>
                    </a:p>
                  </a:txBody>
                  <a:tcPr/>
                </a:tc>
              </a:tr>
              <a:tr h="777240">
                <a:tc>
                  <a:txBody>
                    <a:bodyPr/>
                    <a:lstStyle/>
                    <a:p>
                      <a:r>
                        <a:t>E  Gold &gt; SPY t+1</a:t>
                      </a:r>
                    </a:p>
                  </a:txBody>
                  <a:tcPr/>
                </a:tc>
                <a:tc>
                  <a:txBody>
                    <a:bodyPr/>
                    <a:lstStyle/>
                    <a:p>
                      <a:r>
                        <a:t>XGBoost ROC–AUC</a:t>
                      </a:r>
                    </a:p>
                  </a:txBody>
                  <a:tcPr/>
                </a:tc>
                <a:tc>
                  <a:txBody>
                    <a:bodyPr/>
                    <a:lstStyle/>
                    <a:p>
                      <a:r>
                        <a:t>0.6835</a:t>
                      </a:r>
                    </a:p>
                  </a:txBody>
                  <a:tcPr/>
                </a:tc>
              </a:tr>
              <a:tr h="777240">
                <a:tc>
                  <a:txBody>
                    <a:bodyPr/>
                    <a:lstStyle/>
                    <a:p>
                      <a:r>
                        <a:t>E  balanced metrics</a:t>
                      </a:r>
                    </a:p>
                  </a:txBody>
                  <a:tcPr/>
                </a:tc>
                <a:tc>
                  <a:txBody>
                    <a:bodyPr/>
                    <a:lstStyle/>
                    <a:p>
                      <a:r>
                        <a:t>Random Forest</a:t>
                      </a:r>
                    </a:p>
                  </a:txBody>
                  <a:tcPr/>
                </a:tc>
                <a:tc>
                  <a:txBody>
                    <a:bodyPr/>
                    <a:lstStyle/>
                    <a:p>
                      <a:r>
                        <a:t>0.647 bal. acc</a:t>
                      </a:r>
                    </a:p>
                  </a:txBody>
                  <a:tcPr/>
                </a:tc>
              </a:tr>
              <a:tr h="777240">
                <a:tc>
                  <a:txBody>
                    <a:bodyPr/>
                    <a:lstStyle/>
                    <a:p>
                      <a:r>
                        <a:t>F  SPY vol h=5</a:t>
                      </a:r>
                    </a:p>
                  </a:txBody>
                  <a:tcPr/>
                </a:tc>
                <a:tc>
                  <a:txBody>
                    <a:bodyPr/>
                    <a:lstStyle/>
                    <a:p>
                      <a:r>
                        <a:t>Ridge RMSE</a:t>
                      </a:r>
                    </a:p>
                  </a:txBody>
                  <a:tcPr/>
                </a:tc>
                <a:tc>
                  <a:txBody>
                    <a:bodyPr/>
                    <a:lstStyle/>
                    <a:p>
                      <a:r>
                        <a:t>0.0210</a:t>
                      </a:r>
                    </a:p>
                  </a:txBody>
                  <a:tcPr/>
                </a:tc>
              </a:tr>
              <a:tr h="777240">
                <a:tc>
                  <a:txBody>
                    <a:bodyPr/>
                    <a:lstStyle/>
                    <a:p>
                      <a:r>
                        <a:t>F  VIX h=5</a:t>
                      </a:r>
                    </a:p>
                  </a:txBody>
                  <a:tcPr/>
                </a:tc>
                <a:tc>
                  <a:txBody>
                    <a:bodyPr/>
                    <a:lstStyle/>
                    <a:p>
                      <a:r>
                        <a:t>Persistence</a:t>
                      </a:r>
                    </a:p>
                  </a:txBody>
                  <a:tcPr/>
                </a:tc>
                <a:tc>
                  <a:txBody>
                    <a:bodyPr/>
                    <a:lstStyle/>
                    <a:p>
                      <a:r>
                        <a:t>XGB R² = −0.43</a:t>
                      </a:r>
                    </a:p>
                  </a:txBody>
                  <a:tcPr/>
                </a:tc>
              </a:tr>
              <a:tr h="777240">
                <a:tc>
                  <a:txBody>
                    <a:bodyPr/>
                    <a:lstStyle/>
                    <a:p>
                      <a:r>
                        <a:t>G  stress_any h=5</a:t>
                      </a:r>
                    </a:p>
                  </a:txBody>
                  <a:tcPr/>
                </a:tc>
                <a:tc>
                  <a:txBody>
                    <a:bodyPr/>
                    <a:lstStyle/>
                    <a:p>
                      <a:r>
                        <a:t>Logistic PR–AUC</a:t>
                      </a:r>
                    </a:p>
                  </a:txBody>
                  <a:tcPr/>
                </a:tc>
                <a:tc>
                  <a:txBody>
                    <a:bodyPr/>
                    <a:lstStyle/>
                    <a:p>
                      <a:r>
                        <a:t>0.7095</a:t>
                      </a:r>
                    </a:p>
                  </a:txBody>
                  <a:tcPr/>
                </a:tc>
              </a:tr>
            </a:tbl>
          </a:graphicData>
        </a:graphic>
      </p:graphicFrame>
      <p:sp>
        <p:nvSpPr>
          <p:cNvPr id="4" name="Rectangle 3"/>
          <p:cNvSpPr/>
          <p:nvPr/>
        </p:nvSpPr>
        <p:spPr>
          <a:xfrm>
            <a:off x="0" y="0"/>
            <a:ext cx="146304" cy="685800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01168"/>
            <a:ext cx="11155680" cy="45720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F2F0F7"/>
                </a:solidFill>
              </a:rPr>
              <a:t>Models E / F / G — complexity is not free</a:t>
            </a:r>
          </a:p>
        </p:txBody>
      </p:sp>
      <p:sp>
        <p:nvSpPr>
          <p:cNvPr id="6" name="Rounded Rectangle 5"/>
          <p:cNvSpPr/>
          <p:nvPr/>
        </p:nvSpPr>
        <p:spPr>
          <a:xfrm>
            <a:off x="502920" y="5989320"/>
            <a:ext cx="11155680" cy="45720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C4B5FD"/>
                </a:solidFill>
              </a:rPr>
              <a:t>Takeaway: XGBoost ranks Model E; Ridge wins sticky vol; logistic wins Model 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0B12"/>
        </a:solidFill>
        <a:effectLst/>
      </p:bgPr>
    </p:bg>
    <p:spTree>
      <p:nvGrpSpPr>
        <p:cNvPr id="1" name=""/>
        <p:cNvGrpSpPr/>
        <p:nvPr/>
      </p:nvGrpSpPr>
      <p:grpSpPr/>
      <p:pic>
        <p:nvPicPr>
          <p:cNvPr id="2" name="Picture 1" descr="fig4-themed-shap.png"/>
          <p:cNvPicPr>
            <a:picLocks noChangeAspect="1"/>
          </p:cNvPicPr>
          <p:nvPr/>
        </p:nvPicPr>
        <p:blipFill>
          <a:blip r:embed="rId2"/>
          <a:stretch>
            <a:fillRect/>
          </a:stretch>
        </p:blipFill>
        <p:spPr>
          <a:xfrm>
            <a:off x="320040" y="777240"/>
            <a:ext cx="6035040" cy="5111833"/>
          </a:xfrm>
          <a:prstGeom prst="rect">
            <a:avLst/>
          </a:prstGeom>
        </p:spPr>
      </p:pic>
      <p:graphicFrame>
        <p:nvGraphicFramePr>
          <p:cNvPr id="3" name="Table 2"/>
          <p:cNvGraphicFramePr>
            <a:graphicFrameLocks noGrp="1"/>
          </p:cNvGraphicFramePr>
          <p:nvPr/>
        </p:nvGraphicFramePr>
        <p:xfrm>
          <a:off x="6537960" y="960120"/>
          <a:ext cx="5212080" cy="4480560"/>
        </p:xfrm>
        <a:graphic>
          <a:graphicData uri="http://schemas.openxmlformats.org/drawingml/2006/table">
            <a:tbl>
              <a:tblPr firstRow="1" bandRow="1">
                <a:tableStyleId>{5C22544A-7EE6-4342-B048-85BDC9FD1C3A}</a:tableStyleId>
              </a:tblPr>
              <a:tblGrid>
                <a:gridCol w="2606040"/>
                <a:gridCol w="2606040"/>
              </a:tblGrid>
              <a:tr h="746760">
                <a:tc>
                  <a:txBody>
                    <a:bodyPr/>
                    <a:lstStyle/>
                    <a:p>
                      <a:r>
                        <a:t>Check</a:t>
                      </a:r>
                    </a:p>
                  </a:txBody>
                  <a:tcPr/>
                </a:tc>
                <a:tc>
                  <a:txBody>
                    <a:bodyPr/>
                    <a:lstStyle/>
                    <a:p>
                      <a:r>
                        <a:t>Result</a:t>
                      </a:r>
                    </a:p>
                  </a:txBody>
                  <a:tcPr/>
                </a:tc>
              </a:tr>
              <a:tr h="746760">
                <a:tc>
                  <a:txBody>
                    <a:bodyPr/>
                    <a:lstStyle/>
                    <a:p>
                      <a:r>
                        <a:t>Walk-forward mean AUC</a:t>
                      </a:r>
                    </a:p>
                  </a:txBody>
                  <a:tcPr/>
                </a:tc>
                <a:tc>
                  <a:txBody>
                    <a:bodyPr/>
                    <a:lstStyle/>
                    <a:p>
                      <a:r>
                        <a:t>0.6571 (σ 0.0289)</a:t>
                      </a:r>
                    </a:p>
                  </a:txBody>
                  <a:tcPr/>
                </a:tc>
              </a:tr>
              <a:tr h="746760">
                <a:tc>
                  <a:txBody>
                    <a:bodyPr/>
                    <a:lstStyle/>
                    <a:p>
                      <a:r>
                        <a:t>Folds &gt; 0.55</a:t>
                      </a:r>
                    </a:p>
                  </a:txBody>
                  <a:tcPr/>
                </a:tc>
                <a:tc>
                  <a:txBody>
                    <a:bodyPr/>
                    <a:lstStyle/>
                    <a:p>
                      <a:r>
                        <a:t>8 / 8 years, 2019–2026</a:t>
                      </a:r>
                    </a:p>
                  </a:txBody>
                  <a:tcPr/>
                </a:tc>
              </a:tr>
              <a:tr h="746760">
                <a:tc>
                  <a:txBody>
                    <a:bodyPr/>
                    <a:lstStyle/>
                    <a:p>
                      <a:r>
                        <a:t>SHAP themes</a:t>
                      </a:r>
                    </a:p>
                  </a:txBody>
                  <a:tcPr/>
                </a:tc>
                <a:tc>
                  <a:txBody>
                    <a:bodyPr/>
                    <a:lstStyle/>
                    <a:p>
                      <a:r>
                        <a:t>momentum 39.5% · stress 20%</a:t>
                      </a:r>
                    </a:p>
                  </a:txBody>
                  <a:tcPr/>
                </a:tc>
              </a:tr>
              <a:tr h="746760">
                <a:tc>
                  <a:txBody>
                    <a:bodyPr/>
                    <a:lstStyle/>
                    <a:p>
                      <a:r>
                        <a:t>VIX widening</a:t>
                      </a:r>
                    </a:p>
                  </a:txBody>
                  <a:tcPr/>
                </a:tc>
                <a:tc>
                  <a:txBody>
                    <a:bodyPr/>
                    <a:lstStyle/>
                    <a:p>
                      <a:r>
                        <a:t>survives 66 / 75 / 90</a:t>
                      </a:r>
                    </a:p>
                  </a:txBody>
                  <a:tcPr/>
                </a:tc>
              </a:tr>
              <a:tr h="746760">
                <a:tc>
                  <a:txBody>
                    <a:bodyPr/>
                    <a:lstStyle/>
                    <a:p>
                      <a:r>
                        <a:t>stress_any</a:t>
                      </a:r>
                    </a:p>
                  </a:txBody>
                  <a:tcPr/>
                </a:tc>
                <a:tc>
                  <a:txBody>
                    <a:bodyPr/>
                    <a:lstStyle/>
                    <a:p>
                      <a:r>
                        <a:t>survives 66 and 75, not 90</a:t>
                      </a:r>
                    </a:p>
                  </a:txBody>
                  <a:tcPr/>
                </a:tc>
              </a:tr>
            </a:tbl>
          </a:graphicData>
        </a:graphic>
      </p:graphicFrame>
      <p:sp>
        <p:nvSpPr>
          <p:cNvPr id="4" name="Rectangle 3"/>
          <p:cNvSpPr/>
          <p:nvPr/>
        </p:nvSpPr>
        <p:spPr>
          <a:xfrm>
            <a:off x="0" y="0"/>
            <a:ext cx="146304" cy="685800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01168"/>
            <a:ext cx="11155680" cy="45720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F2F0F7"/>
                </a:solidFill>
              </a:rPr>
              <a:t>Robustness: thresholds, SHAP, walk-forward</a:t>
            </a:r>
          </a:p>
        </p:txBody>
      </p:sp>
      <p:sp>
        <p:nvSpPr>
          <p:cNvPr id="6" name="Rounded Rectangle 5"/>
          <p:cNvSpPr/>
          <p:nvPr/>
        </p:nvSpPr>
        <p:spPr>
          <a:xfrm>
            <a:off x="502920" y="5989320"/>
            <a:ext cx="11155680" cy="45720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C4B5FD"/>
                </a:solidFill>
              </a:rPr>
              <a:t>Takeaway: Model E is momentum + stress, and the VIX result survives every cutoff.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0B12"/>
        </a:solidFill>
        <a:effectLst/>
      </p:bgPr>
    </p:bg>
    <p:spTree>
      <p:nvGrpSpPr>
        <p:cNvPr id="1" name=""/>
        <p:cNvGrpSpPr/>
        <p:nvPr/>
      </p:nvGrpSpPr>
      <p:grpSpPr/>
      <p:graphicFrame>
        <p:nvGraphicFramePr>
          <p:cNvPr id="2" name="Table 1"/>
          <p:cNvGraphicFramePr>
            <a:graphicFrameLocks noGrp="1"/>
          </p:cNvGraphicFramePr>
          <p:nvPr/>
        </p:nvGraphicFramePr>
        <p:xfrm>
          <a:off x="502920" y="868680"/>
          <a:ext cx="11155680" cy="4754880"/>
        </p:xfrm>
        <a:graphic>
          <a:graphicData uri="http://schemas.openxmlformats.org/drawingml/2006/table">
            <a:tbl>
              <a:tblPr firstRow="1" bandRow="1">
                <a:tableStyleId>{5C22544A-7EE6-4342-B048-85BDC9FD1C3A}</a:tableStyleId>
              </a:tblPr>
              <a:tblGrid>
                <a:gridCol w="5577840"/>
                <a:gridCol w="5577840"/>
              </a:tblGrid>
              <a:tr h="792480">
                <a:tc>
                  <a:txBody>
                    <a:bodyPr/>
                    <a:lstStyle/>
                    <a:p>
                      <a:r>
                        <a:t>Finding</a:t>
                      </a:r>
                    </a:p>
                  </a:txBody>
                  <a:tcPr/>
                </a:tc>
                <a:tc>
                  <a:txBody>
                    <a:bodyPr/>
                    <a:lstStyle/>
                    <a:p>
                      <a:r>
                        <a:t>Limitation sitting next to it</a:t>
                      </a:r>
                    </a:p>
                  </a:txBody>
                  <a:tcPr/>
                </a:tc>
              </a:tr>
              <a:tr h="792480">
                <a:tc>
                  <a:txBody>
                    <a:bodyPr/>
                    <a:lstStyle/>
                    <a:p>
                      <a:r>
                        <a:t>Stress tracks volatility</a:t>
                      </a:r>
                    </a:p>
                  </a:txBody>
                  <a:tcPr/>
                </a:tc>
                <a:tc>
                  <a:txBody>
                    <a:bodyPr/>
                    <a:lstStyle/>
                    <a:p>
                      <a:r>
                        <a:t>Full-sample 66th percentile is retrospective</a:t>
                      </a:r>
                    </a:p>
                  </a:txBody>
                  <a:tcPr/>
                </a:tc>
              </a:tr>
              <a:tr h="792480">
                <a:tc>
                  <a:txBody>
                    <a:bodyPr/>
                    <a:lstStyle/>
                    <a:p>
                      <a:r>
                        <a:t>Gold is a conditional safe haven (VIX / COVID)</a:t>
                      </a:r>
                    </a:p>
                  </a:txBody>
                  <a:tcPr/>
                </a:tc>
                <a:tc>
                  <a:txBody>
                    <a:bodyPr/>
                    <a:lstStyle/>
                    <a:p>
                      <a:r>
                        <a:t>HYS and FSI do not agree; 2022 rates hurt Gold</a:t>
                      </a:r>
                    </a:p>
                  </a:txBody>
                  <a:tcPr/>
                </a:tc>
              </a:tr>
              <a:tr h="792480">
                <a:tc>
                  <a:txBody>
                    <a:bodyPr/>
                    <a:lstStyle/>
                    <a:p>
                      <a:r>
                        <a:t>Bitcoin is not digital Gold (beta rises in stress)</a:t>
                      </a:r>
                    </a:p>
                  </a:txBody>
                  <a:tcPr/>
                </a:tc>
                <a:tc>
                  <a:txBody>
                    <a:bodyPr/>
                    <a:lstStyle/>
                    <a:p>
                      <a:r>
                        <a:t>Sample starts 2014; U.S.-centric macros; no costs</a:t>
                      </a:r>
                    </a:p>
                  </a:txBody>
                  <a:tcPr/>
                </a:tc>
              </a:tr>
              <a:tr h="792480">
                <a:tc>
                  <a:txBody>
                    <a:bodyPr/>
                    <a:lstStyle/>
                    <a:p>
                      <a:r>
                        <a:t>Nonlinear models help Model E; Ridge wins Model F</a:t>
                      </a:r>
                    </a:p>
                  </a:txBody>
                  <a:tcPr/>
                </a:tc>
                <a:tc>
                  <a:txBody>
                    <a:bodyPr/>
                    <a:lstStyle/>
                    <a:p>
                      <a:r>
                        <a:t>MLP: ~100% train / ~53% test — covariate shift</a:t>
                      </a:r>
                    </a:p>
                  </a:txBody>
                  <a:tcPr/>
                </a:tc>
              </a:tr>
              <a:tr h="792480">
                <a:tc>
                  <a:txBody>
                    <a:bodyPr/>
                    <a:lstStyle/>
                    <a:p>
                      <a:r>
                        <a:t>Walk-forward mean AUC 0.6571</a:t>
                      </a:r>
                    </a:p>
                  </a:txBody>
                  <a:tcPr/>
                </a:tc>
                <a:tc>
                  <a:txBody>
                    <a:bodyPr/>
                    <a:lstStyle/>
                    <a:p>
                      <a:r>
                        <a:t>Original notebooks / hyperparameters were not recovered</a:t>
                      </a:r>
                    </a:p>
                  </a:txBody>
                  <a:tcPr/>
                </a:tc>
              </a:tr>
            </a:tbl>
          </a:graphicData>
        </a:graphic>
      </p:graphicFrame>
      <p:sp>
        <p:nvSpPr>
          <p:cNvPr id="3" name="Rectangle 2"/>
          <p:cNvSpPr/>
          <p:nvPr/>
        </p:nvSpPr>
        <p:spPr>
          <a:xfrm>
            <a:off x="0" y="0"/>
            <a:ext cx="146304" cy="685800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01168"/>
            <a:ext cx="11155680" cy="457200"/>
          </a:xfrm>
          <a:prstGeom prst="roundRect">
            <a:avLst/>
          </a:prstGeom>
          <a:solidFill>
            <a:srgbClr val="0C0B12"/>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F2F0F7"/>
                </a:solidFill>
              </a:rPr>
              <a:t>Conclusions sit next to their limitations</a:t>
            </a:r>
          </a:p>
        </p:txBody>
      </p:sp>
      <p:sp>
        <p:nvSpPr>
          <p:cNvPr id="5" name="Rounded Rectangle 4"/>
          <p:cNvSpPr/>
          <p:nvPr/>
        </p:nvSpPr>
        <p:spPr>
          <a:xfrm>
            <a:off x="502920" y="5989320"/>
            <a:ext cx="11155680" cy="457200"/>
          </a:xfrm>
          <a:prstGeom prst="roundRect">
            <a:avLst/>
          </a:prstGeom>
          <a:solidFill>
            <a:srgbClr val="16141F"/>
          </a:solidFill>
        </p:spPr>
        <p:style>
          <a:lnRef idx="1">
            <a:schemeClr val="accent1"/>
          </a:lnRef>
          <a:fillRef idx="3">
            <a:schemeClr val="accent1"/>
          </a:fillRef>
          <a:effectRef idx="2">
            <a:schemeClr val="accent1"/>
          </a:effectRef>
          <a:fontRef idx="minor">
            <a:schemeClr val="lt1"/>
          </a:fontRef>
        </p:style>
        <p:txBody>
          <a:bodyPr rtlCol="0" anchor="ctr"/>
          <a:lstStyle/>
          <a:p>
            <a:r>
              <a:rPr>
                <a:solidFill>
                  <a:srgbClr val="C4B5FD"/>
                </a:solidFill>
              </a:rPr>
              <a:t>Report is the source of truth. src/ is a reconstruction, not the lost notebooks.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